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14"/>
  </p:notesMasterIdLst>
  <p:sldIdLst>
    <p:sldId id="256" r:id="rId2"/>
    <p:sldId id="268" r:id="rId3"/>
    <p:sldId id="261" r:id="rId4"/>
    <p:sldId id="262" r:id="rId5"/>
    <p:sldId id="269" r:id="rId6"/>
    <p:sldId id="258" r:id="rId7"/>
    <p:sldId id="260" r:id="rId8"/>
    <p:sldId id="257" r:id="rId9"/>
    <p:sldId id="266" r:id="rId10"/>
    <p:sldId id="264" r:id="rId11"/>
    <p:sldId id="271" r:id="rId12"/>
    <p:sldId id="25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E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2EF620-8F3C-4578-81FD-5BE0FB37BFE2}" type="datetimeFigureOut">
              <a:rPr lang="en-CA" smtClean="0"/>
              <a:t>2016-05-25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C77A91-26DF-48AA-8527-23FEC3A0FC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8242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D71196E7-A326-4970-9DEB-5A8BCAFC1F4B}" type="datetimeFigureOut">
              <a:rPr lang="en-CA" smtClean="0"/>
              <a:t>2016-05-25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8B265678-C360-4280-8F76-4857ACC87F20}" type="slidenum">
              <a:rPr lang="en-CA" smtClean="0"/>
              <a:t>‹#›</a:t>
            </a:fld>
            <a:endParaRPr lang="en-CA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61628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196E7-A326-4970-9DEB-5A8BCAFC1F4B}" type="datetimeFigureOut">
              <a:rPr lang="en-CA" smtClean="0"/>
              <a:t>2016-05-25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65678-C360-4280-8F76-4857ACC87F2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92788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196E7-A326-4970-9DEB-5A8BCAFC1F4B}" type="datetimeFigureOut">
              <a:rPr lang="en-CA" smtClean="0"/>
              <a:t>2016-05-25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65678-C360-4280-8F76-4857ACC87F20}" type="slidenum">
              <a:rPr lang="en-CA" smtClean="0"/>
              <a:t>‹#›</a:t>
            </a:fld>
            <a:endParaRPr lang="en-CA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16348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196E7-A326-4970-9DEB-5A8BCAFC1F4B}" type="datetimeFigureOut">
              <a:rPr lang="en-CA" smtClean="0"/>
              <a:t>2016-05-25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65678-C360-4280-8F76-4857ACC87F2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7590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196E7-A326-4970-9DEB-5A8BCAFC1F4B}" type="datetimeFigureOut">
              <a:rPr lang="en-CA" smtClean="0"/>
              <a:t>2016-05-25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65678-C360-4280-8F76-4857ACC87F2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18150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196E7-A326-4970-9DEB-5A8BCAFC1F4B}" type="datetimeFigureOut">
              <a:rPr lang="en-CA" smtClean="0"/>
              <a:t>2016-05-25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65678-C360-4280-8F76-4857ACC87F2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176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196E7-A326-4970-9DEB-5A8BCAFC1F4B}" type="datetimeFigureOut">
              <a:rPr lang="en-CA" smtClean="0"/>
              <a:t>2016-05-25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65678-C360-4280-8F76-4857ACC87F2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2515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196E7-A326-4970-9DEB-5A8BCAFC1F4B}" type="datetimeFigureOut">
              <a:rPr lang="en-CA" smtClean="0"/>
              <a:t>2016-05-25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65678-C360-4280-8F76-4857ACC87F2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01399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196E7-A326-4970-9DEB-5A8BCAFC1F4B}" type="datetimeFigureOut">
              <a:rPr lang="en-CA" smtClean="0"/>
              <a:t>2016-05-25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65678-C360-4280-8F76-4857ACC87F2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4630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196E7-A326-4970-9DEB-5A8BCAFC1F4B}" type="datetimeFigureOut">
              <a:rPr lang="en-CA" smtClean="0"/>
              <a:t>2016-05-25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65678-C360-4280-8F76-4857ACC87F2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54781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196E7-A326-4970-9DEB-5A8BCAFC1F4B}" type="datetimeFigureOut">
              <a:rPr lang="en-CA" smtClean="0"/>
              <a:t>2016-05-25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65678-C360-4280-8F76-4857ACC87F2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5588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D71196E7-A326-4970-9DEB-5A8BCAFC1F4B}" type="datetimeFigureOut">
              <a:rPr lang="en-CA" smtClean="0"/>
              <a:t>2016-05-25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8B265678-C360-4280-8F76-4857ACC87F2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48059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tm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696565"/>
            <a:ext cx="9418320" cy="3345287"/>
          </a:xfrm>
        </p:spPr>
        <p:txBody>
          <a:bodyPr>
            <a:normAutofit/>
          </a:bodyPr>
          <a:lstStyle/>
          <a:p>
            <a:r>
              <a:rPr lang="en-CA" dirty="0" smtClean="0"/>
              <a:t>Tagging Alpha-n Reactions in SNO+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 smtClean="0"/>
              <a:t>Jamie Breault</a:t>
            </a:r>
          </a:p>
          <a:p>
            <a:r>
              <a:rPr lang="en-CA" dirty="0" smtClean="0"/>
              <a:t>April 22, 2016</a:t>
            </a:r>
            <a:endParaRPr lang="en-CA" dirty="0"/>
          </a:p>
        </p:txBody>
      </p:sp>
      <p:pic>
        <p:nvPicPr>
          <p:cNvPr id="1026" name="Picture 2" descr="http://snoplus.phy.queensu.ca/Home_files/shapeimage_3.png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7318" y="4389582"/>
            <a:ext cx="3262874" cy="1517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4907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SNO+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CA" sz="20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CA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Multipurpose neutrino experiment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CA" sz="20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CA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2 km </a:t>
            </a:r>
            <a:r>
              <a:rPr lang="en-CA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underground</a:t>
            </a:r>
            <a:endParaRPr lang="en-CA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CA" sz="20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CA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Consists of an acrylic vessel (AV) 12 m in 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CA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diameter surrounded by about 9500 PMTs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CA" sz="20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CA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The experiment will have a scintillator 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CA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phase and a water phase</a:t>
            </a:r>
          </a:p>
          <a:p>
            <a:endParaRPr lang="en-CA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CA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30" name="Picture 6" descr="http://underground.physics.berkeley.edu/img/experiments/snoplus/snoplus_ar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0464" y="1473745"/>
            <a:ext cx="3938425" cy="4706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6771861" y="5432240"/>
            <a:ext cx="173643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 smtClean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Acrylic Vessel</a:t>
            </a:r>
            <a:endParaRPr lang="en-US" b="1" cap="none" spc="0" dirty="0">
              <a:ln w="0"/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Arrow Connector 7"/>
          <p:cNvCxnSpPr>
            <a:stCxn id="4" idx="0"/>
          </p:cNvCxnSpPr>
          <p:nvPr/>
        </p:nvCxnSpPr>
        <p:spPr>
          <a:xfrm flipV="1">
            <a:off x="7640080" y="4545497"/>
            <a:ext cx="868218" cy="886743"/>
          </a:xfrm>
          <a:prstGeom prst="straightConnector1">
            <a:avLst/>
          </a:prstGeom>
          <a:ln>
            <a:solidFill>
              <a:schemeClr val="dk1">
                <a:shade val="95000"/>
                <a:satMod val="150000"/>
              </a:schemeClr>
            </a:solidFill>
            <a:headEnd w="lg" len="lg"/>
            <a:tailEnd type="triangle" w="lg" len="lg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202592" y="6118581"/>
            <a:ext cx="311495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1000" dirty="0">
                <a:latin typeface="Arial" panose="020B0604020202020204" pitchFamily="34" charset="0"/>
                <a:cs typeface="Arial" panose="020B0604020202020204" pitchFamily="34" charset="0"/>
              </a:rPr>
              <a:t>http://underground.physics.berkeley.edu/SNO+.html</a:t>
            </a:r>
          </a:p>
        </p:txBody>
      </p:sp>
    </p:spTree>
    <p:extLst>
      <p:ext uri="{BB962C8B-B14F-4D97-AF65-F5344CB8AC3E}">
        <p14:creationId xmlns:p14="http://schemas.microsoft.com/office/powerpoint/2010/main" val="1076890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Alpha Source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2" descr="http://inspirehep.net/record/883319/files/decay.png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872" y="2166592"/>
            <a:ext cx="8628998" cy="3772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4792480" y="1986288"/>
            <a:ext cx="2631424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Short Half-Life</a:t>
            </a:r>
          </a:p>
          <a:p>
            <a:pPr algn="ctr"/>
            <a:r>
              <a:rPr lang="en-US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Isotopes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906074" y="3473244"/>
            <a:ext cx="1171978" cy="1159098"/>
          </a:xfrm>
          <a:prstGeom prst="roundRect">
            <a:avLst/>
          </a:prstGeom>
          <a:solidFill>
            <a:srgbClr val="FF0000">
              <a:alpha val="14902"/>
            </a:srgb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ounded Rectangle 6"/>
          <p:cNvSpPr/>
          <p:nvPr/>
        </p:nvSpPr>
        <p:spPr>
          <a:xfrm>
            <a:off x="1906074" y="4862501"/>
            <a:ext cx="1171978" cy="1159098"/>
          </a:xfrm>
          <a:prstGeom prst="roundRect">
            <a:avLst/>
          </a:prstGeom>
          <a:solidFill>
            <a:srgbClr val="FF0000">
              <a:alpha val="14902"/>
            </a:srgb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ounded Rectangle 7"/>
          <p:cNvSpPr/>
          <p:nvPr/>
        </p:nvSpPr>
        <p:spPr>
          <a:xfrm>
            <a:off x="3462271" y="4185634"/>
            <a:ext cx="1171978" cy="1171977"/>
          </a:xfrm>
          <a:prstGeom prst="roundRect">
            <a:avLst/>
          </a:prstGeom>
          <a:solidFill>
            <a:srgbClr val="FF0000">
              <a:alpha val="14902"/>
            </a:srgb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ounded Rectangle 8"/>
          <p:cNvSpPr/>
          <p:nvPr/>
        </p:nvSpPr>
        <p:spPr>
          <a:xfrm>
            <a:off x="5018468" y="3473244"/>
            <a:ext cx="1171978" cy="1159098"/>
          </a:xfrm>
          <a:prstGeom prst="roundRect">
            <a:avLst/>
          </a:prstGeom>
          <a:solidFill>
            <a:srgbClr val="FF0000">
              <a:alpha val="14902"/>
            </a:srgb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ounded Rectangle 9"/>
          <p:cNvSpPr/>
          <p:nvPr/>
        </p:nvSpPr>
        <p:spPr>
          <a:xfrm>
            <a:off x="6574665" y="4185633"/>
            <a:ext cx="1171978" cy="1171978"/>
          </a:xfrm>
          <a:prstGeom prst="roundRect">
            <a:avLst/>
          </a:prstGeom>
          <a:solidFill>
            <a:srgbClr val="FF0000">
              <a:alpha val="14902"/>
            </a:srgb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ounded Rectangle 10"/>
          <p:cNvSpPr/>
          <p:nvPr/>
        </p:nvSpPr>
        <p:spPr>
          <a:xfrm>
            <a:off x="4816699" y="1884175"/>
            <a:ext cx="2607205" cy="1159098"/>
          </a:xfrm>
          <a:prstGeom prst="roundRect">
            <a:avLst/>
          </a:prstGeom>
          <a:solidFill>
            <a:srgbClr val="FF0000">
              <a:alpha val="14902"/>
            </a:srgb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ectangle 11"/>
          <p:cNvSpPr/>
          <p:nvPr/>
        </p:nvSpPr>
        <p:spPr>
          <a:xfrm>
            <a:off x="1846785" y="6021599"/>
            <a:ext cx="246253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1000" dirty="0">
                <a:latin typeface="Arial" panose="020B0604020202020204" pitchFamily="34" charset="0"/>
                <a:cs typeface="Arial" panose="020B0604020202020204" pitchFamily="34" charset="0"/>
              </a:rPr>
              <a:t>http://inspirehep.net/record/883319/plots</a:t>
            </a:r>
          </a:p>
        </p:txBody>
      </p:sp>
    </p:spTree>
    <p:extLst>
      <p:ext uri="{BB962C8B-B14F-4D97-AF65-F5344CB8AC3E}">
        <p14:creationId xmlns:p14="http://schemas.microsoft.com/office/powerpoint/2010/main" val="2951728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Alpha-n Reactions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1620046" y="2531689"/>
            <a:ext cx="334851" cy="334851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Oval 6"/>
          <p:cNvSpPr/>
          <p:nvPr/>
        </p:nvSpPr>
        <p:spPr>
          <a:xfrm>
            <a:off x="1510373" y="3300435"/>
            <a:ext cx="528034" cy="515155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Oval 7"/>
          <p:cNvSpPr/>
          <p:nvPr/>
        </p:nvSpPr>
        <p:spPr>
          <a:xfrm>
            <a:off x="3608211" y="3112418"/>
            <a:ext cx="844777" cy="83471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Oval 8"/>
          <p:cNvSpPr/>
          <p:nvPr/>
        </p:nvSpPr>
        <p:spPr>
          <a:xfrm>
            <a:off x="7689329" y="5559194"/>
            <a:ext cx="364217" cy="339853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Oval 11"/>
          <p:cNvSpPr/>
          <p:nvPr/>
        </p:nvSpPr>
        <p:spPr>
          <a:xfrm>
            <a:off x="5237890" y="5229535"/>
            <a:ext cx="528034" cy="515155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4" name="Straight Arrow Connector 13"/>
          <p:cNvCxnSpPr>
            <a:stCxn id="7" idx="6"/>
          </p:cNvCxnSpPr>
          <p:nvPr/>
        </p:nvCxnSpPr>
        <p:spPr>
          <a:xfrm flipV="1">
            <a:off x="2038407" y="3541878"/>
            <a:ext cx="460770" cy="16135"/>
          </a:xfrm>
          <a:prstGeom prst="straightConnector1">
            <a:avLst/>
          </a:prstGeom>
          <a:ln>
            <a:solidFill>
              <a:schemeClr val="dk1">
                <a:shade val="95000"/>
                <a:satMod val="150000"/>
              </a:schemeClr>
            </a:solidFill>
            <a:headEnd w="lg" len="lg"/>
            <a:tailEnd type="triangle" w="lg" len="lg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8" idx="6"/>
            <a:endCxn id="33" idx="2"/>
          </p:cNvCxnSpPr>
          <p:nvPr/>
        </p:nvCxnSpPr>
        <p:spPr>
          <a:xfrm>
            <a:off x="4452988" y="3529777"/>
            <a:ext cx="1569804" cy="0"/>
          </a:xfrm>
          <a:prstGeom prst="straightConnector1">
            <a:avLst/>
          </a:prstGeom>
          <a:ln>
            <a:solidFill>
              <a:schemeClr val="dk1">
                <a:shade val="95000"/>
                <a:satMod val="150000"/>
              </a:schemeClr>
            </a:solidFill>
            <a:headEnd w="lg" len="lg"/>
            <a:tailEnd type="triangle" w="lg" len="lg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954960" y="2783607"/>
            <a:ext cx="1847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340355" y="2383685"/>
            <a:ext cx="78559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l-GR" sz="2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endParaRPr lang="en-US" sz="20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504010" y="3373352"/>
            <a:ext cx="5212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b="1" baseline="30000" dirty="0">
                <a:solidFill>
                  <a:srgbClr val="252525"/>
                </a:solidFill>
                <a:latin typeface="Arial" panose="020B0604020202020204" pitchFamily="34" charset="0"/>
              </a:rPr>
              <a:t>13</a:t>
            </a:r>
            <a:r>
              <a:rPr lang="en-CA" b="1" dirty="0">
                <a:solidFill>
                  <a:srgbClr val="252525"/>
                </a:solidFill>
                <a:latin typeface="Arial" panose="020B0604020202020204" pitchFamily="34" charset="0"/>
              </a:rPr>
              <a:t>C</a:t>
            </a:r>
            <a:endParaRPr lang="en-CA" b="1" dirty="0"/>
          </a:p>
        </p:txBody>
      </p:sp>
      <p:sp>
        <p:nvSpPr>
          <p:cNvPr id="26" name="Rectangle 25"/>
          <p:cNvSpPr/>
          <p:nvPr/>
        </p:nvSpPr>
        <p:spPr>
          <a:xfrm>
            <a:off x="3621311" y="3292370"/>
            <a:ext cx="86914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800" b="1" baseline="30000" dirty="0" smtClean="0">
                <a:solidFill>
                  <a:srgbClr val="252525"/>
                </a:solidFill>
                <a:latin typeface="Arial" panose="020B0604020202020204" pitchFamily="34" charset="0"/>
              </a:rPr>
              <a:t>17</a:t>
            </a:r>
            <a:r>
              <a:rPr lang="en-CA" sz="2800" b="1" dirty="0" smtClean="0">
                <a:solidFill>
                  <a:srgbClr val="252525"/>
                </a:solidFill>
                <a:latin typeface="Arial" panose="020B0604020202020204" pitchFamily="34" charset="0"/>
              </a:rPr>
              <a:t>O*</a:t>
            </a:r>
            <a:endParaRPr lang="en-CA" sz="2800" b="1" dirty="0"/>
          </a:p>
        </p:txBody>
      </p:sp>
      <p:sp>
        <p:nvSpPr>
          <p:cNvPr id="27" name="Rectangle 26"/>
          <p:cNvSpPr/>
          <p:nvPr/>
        </p:nvSpPr>
        <p:spPr>
          <a:xfrm>
            <a:off x="6080336" y="3280268"/>
            <a:ext cx="7296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800" b="1" baseline="30000" dirty="0" smtClean="0">
                <a:solidFill>
                  <a:srgbClr val="252525"/>
                </a:solidFill>
                <a:latin typeface="Arial" panose="020B0604020202020204" pitchFamily="34" charset="0"/>
              </a:rPr>
              <a:t>16</a:t>
            </a:r>
            <a:r>
              <a:rPr lang="en-CA" sz="2800" b="1" dirty="0" smtClean="0">
                <a:solidFill>
                  <a:srgbClr val="252525"/>
                </a:solidFill>
                <a:latin typeface="Arial" panose="020B0604020202020204" pitchFamily="34" charset="0"/>
              </a:rPr>
              <a:t>O</a:t>
            </a:r>
            <a:endParaRPr lang="en-CA" sz="2800" b="1" dirty="0"/>
          </a:p>
        </p:txBody>
      </p:sp>
      <p:sp>
        <p:nvSpPr>
          <p:cNvPr id="28" name="Rectangle 27"/>
          <p:cNvSpPr/>
          <p:nvPr/>
        </p:nvSpPr>
        <p:spPr>
          <a:xfrm>
            <a:off x="5231583" y="5302446"/>
            <a:ext cx="5212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b="1" baseline="30000" dirty="0" smtClean="0">
                <a:solidFill>
                  <a:srgbClr val="252525"/>
                </a:solidFill>
                <a:latin typeface="Arial" panose="020B0604020202020204" pitchFamily="34" charset="0"/>
              </a:rPr>
              <a:t>12</a:t>
            </a:r>
            <a:r>
              <a:rPr lang="en-CA" b="1" dirty="0" smtClean="0">
                <a:solidFill>
                  <a:srgbClr val="252525"/>
                </a:solidFill>
                <a:latin typeface="Arial" panose="020B0604020202020204" pitchFamily="34" charset="0"/>
              </a:rPr>
              <a:t>C</a:t>
            </a:r>
            <a:endParaRPr lang="en-CA" b="1" dirty="0"/>
          </a:p>
        </p:txBody>
      </p:sp>
      <p:sp>
        <p:nvSpPr>
          <p:cNvPr id="33" name="Oval 32"/>
          <p:cNvSpPr/>
          <p:nvPr/>
        </p:nvSpPr>
        <p:spPr>
          <a:xfrm>
            <a:off x="6022792" y="3112418"/>
            <a:ext cx="844777" cy="83471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4" name="Oval 33"/>
          <p:cNvSpPr/>
          <p:nvPr/>
        </p:nvSpPr>
        <p:spPr>
          <a:xfrm>
            <a:off x="4748953" y="4341909"/>
            <a:ext cx="334851" cy="334851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35" name="Straight Arrow Connector 34"/>
          <p:cNvCxnSpPr>
            <a:stCxn id="8" idx="5"/>
            <a:endCxn id="34" idx="1"/>
          </p:cNvCxnSpPr>
          <p:nvPr/>
        </p:nvCxnSpPr>
        <p:spPr>
          <a:xfrm>
            <a:off x="4329273" y="3824894"/>
            <a:ext cx="468718" cy="566053"/>
          </a:xfrm>
          <a:prstGeom prst="straightConnector1">
            <a:avLst/>
          </a:prstGeom>
          <a:ln w="38100">
            <a:solidFill>
              <a:srgbClr val="0070C0"/>
            </a:solidFill>
            <a:headEnd w="lg" len="lg"/>
            <a:tailEnd type="triangle" w="lg" len="lg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4769094" y="4314414"/>
            <a:ext cx="325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b="1" dirty="0" smtClean="0">
                <a:solidFill>
                  <a:srgbClr val="252525"/>
                </a:solidFill>
                <a:latin typeface="Arial" panose="020B0604020202020204" pitchFamily="34" charset="0"/>
              </a:rPr>
              <a:t>n</a:t>
            </a:r>
            <a:endParaRPr lang="en-CA" b="1" dirty="0"/>
          </a:p>
        </p:txBody>
      </p:sp>
      <p:cxnSp>
        <p:nvCxnSpPr>
          <p:cNvPr id="42" name="Straight Arrow Connector 41"/>
          <p:cNvCxnSpPr>
            <a:stCxn id="34" idx="5"/>
            <a:endCxn id="12" idx="0"/>
          </p:cNvCxnSpPr>
          <p:nvPr/>
        </p:nvCxnSpPr>
        <p:spPr>
          <a:xfrm>
            <a:off x="5034766" y="4627722"/>
            <a:ext cx="467141" cy="601813"/>
          </a:xfrm>
          <a:prstGeom prst="straightConnector1">
            <a:avLst/>
          </a:prstGeom>
          <a:ln w="38100">
            <a:solidFill>
              <a:srgbClr val="0070C0"/>
            </a:solidFill>
            <a:headEnd w="lg" len="lg"/>
            <a:tailEnd type="none" w="lg" len="lg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9" idx="6"/>
          </p:cNvCxnSpPr>
          <p:nvPr/>
        </p:nvCxnSpPr>
        <p:spPr>
          <a:xfrm flipV="1">
            <a:off x="8053546" y="5714380"/>
            <a:ext cx="307331" cy="14741"/>
          </a:xfrm>
          <a:prstGeom prst="straightConnector1">
            <a:avLst/>
          </a:prstGeom>
          <a:ln>
            <a:solidFill>
              <a:schemeClr val="dk1">
                <a:shade val="95000"/>
                <a:satMod val="150000"/>
              </a:schemeClr>
            </a:solidFill>
            <a:headEnd w="lg" len="lg"/>
            <a:tailEnd type="triangle" w="lg" len="lg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7708572" y="5544454"/>
            <a:ext cx="325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b="1" dirty="0" smtClean="0">
                <a:solidFill>
                  <a:srgbClr val="252525"/>
                </a:solidFill>
                <a:latin typeface="Arial" panose="020B0604020202020204" pitchFamily="34" charset="0"/>
              </a:rPr>
              <a:t>p</a:t>
            </a:r>
            <a:endParaRPr lang="en-CA" b="1" dirty="0"/>
          </a:p>
        </p:txBody>
      </p:sp>
      <p:sp>
        <p:nvSpPr>
          <p:cNvPr id="53" name="Rectangle 52"/>
          <p:cNvSpPr/>
          <p:nvPr/>
        </p:nvSpPr>
        <p:spPr>
          <a:xfrm>
            <a:off x="9127095" y="5529714"/>
            <a:ext cx="325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b="1" dirty="0" smtClean="0">
                <a:solidFill>
                  <a:srgbClr val="252525"/>
                </a:solidFill>
                <a:latin typeface="Arial" panose="020B0604020202020204" pitchFamily="34" charset="0"/>
              </a:rPr>
              <a:t>d</a:t>
            </a:r>
            <a:endParaRPr lang="en-CA" b="1" dirty="0"/>
          </a:p>
        </p:txBody>
      </p:sp>
      <p:cxnSp>
        <p:nvCxnSpPr>
          <p:cNvPr id="58" name="Straight Arrow Connector 57"/>
          <p:cNvCxnSpPr>
            <a:stCxn id="12" idx="0"/>
          </p:cNvCxnSpPr>
          <p:nvPr/>
        </p:nvCxnSpPr>
        <p:spPr>
          <a:xfrm flipV="1">
            <a:off x="5501907" y="4619406"/>
            <a:ext cx="922328" cy="610129"/>
          </a:xfrm>
          <a:prstGeom prst="straightConnector1">
            <a:avLst/>
          </a:prstGeom>
          <a:ln w="38100">
            <a:solidFill>
              <a:srgbClr val="0070C0"/>
            </a:solidFill>
            <a:headEnd w="lg" len="lg"/>
            <a:tailEnd type="none" w="lg" len="lg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6424235" y="4619404"/>
            <a:ext cx="605134" cy="710288"/>
          </a:xfrm>
          <a:prstGeom prst="straightConnector1">
            <a:avLst/>
          </a:prstGeom>
          <a:ln w="38100">
            <a:solidFill>
              <a:srgbClr val="0070C0"/>
            </a:solidFill>
            <a:headEnd w="lg" len="lg"/>
            <a:tailEnd type="none" w="lg" len="lg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 flipV="1">
            <a:off x="7029369" y="4832076"/>
            <a:ext cx="659960" cy="497619"/>
          </a:xfrm>
          <a:prstGeom prst="straightConnector1">
            <a:avLst/>
          </a:prstGeom>
          <a:ln w="38100">
            <a:solidFill>
              <a:srgbClr val="0070C0"/>
            </a:solidFill>
            <a:headEnd w="lg" len="lg"/>
            <a:tailEnd type="none" w="lg" len="lg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9114570" y="5544454"/>
            <a:ext cx="364217" cy="339853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98" name="Straight Arrow Connector 97"/>
          <p:cNvCxnSpPr>
            <a:stCxn id="12" idx="5"/>
          </p:cNvCxnSpPr>
          <p:nvPr/>
        </p:nvCxnSpPr>
        <p:spPr>
          <a:xfrm>
            <a:off x="5688595" y="5669247"/>
            <a:ext cx="606457" cy="332713"/>
          </a:xfrm>
          <a:prstGeom prst="straightConnector1">
            <a:avLst/>
          </a:prstGeom>
          <a:ln cap="flat" cmpd="sng">
            <a:solidFill>
              <a:srgbClr val="FFC000"/>
            </a:solidFill>
            <a:prstDash val="solid"/>
            <a:headEnd w="lg" len="lg"/>
            <a:tailEnd type="triangle" w="lg" len="lg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>
            <a:stCxn id="8" idx="7"/>
          </p:cNvCxnSpPr>
          <p:nvPr/>
        </p:nvCxnSpPr>
        <p:spPr>
          <a:xfrm flipV="1">
            <a:off x="4329273" y="2564553"/>
            <a:ext cx="886995" cy="670107"/>
          </a:xfrm>
          <a:prstGeom prst="straightConnector1">
            <a:avLst/>
          </a:prstGeom>
          <a:ln cap="flat" cmpd="sng">
            <a:solidFill>
              <a:srgbClr val="FFC000"/>
            </a:solidFill>
            <a:prstDash val="solid"/>
            <a:headEnd w="lg" len="lg"/>
            <a:tailEnd type="triangle" w="lg" len="lg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>
            <a:stCxn id="73" idx="7"/>
          </p:cNvCxnSpPr>
          <p:nvPr/>
        </p:nvCxnSpPr>
        <p:spPr>
          <a:xfrm flipV="1">
            <a:off x="9425449" y="4832076"/>
            <a:ext cx="572433" cy="762148"/>
          </a:xfrm>
          <a:prstGeom prst="straightConnector1">
            <a:avLst/>
          </a:prstGeom>
          <a:ln cap="flat" cmpd="sng">
            <a:solidFill>
              <a:srgbClr val="FFC000"/>
            </a:solidFill>
            <a:prstDash val="solid"/>
            <a:headEnd w="lg" len="lg"/>
            <a:tailEnd type="triangle" w="lg" len="lg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4" name="Rectangle 113"/>
          <p:cNvSpPr/>
          <p:nvPr/>
        </p:nvSpPr>
        <p:spPr>
          <a:xfrm>
            <a:off x="4326195" y="2185335"/>
            <a:ext cx="26019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6.1 MeV 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γ</a:t>
            </a: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 (sometimes)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6164601" y="5975061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4.4 MeV </a:t>
            </a:r>
            <a:r>
              <a:rPr lang="el-GR" dirty="0" smtClean="0">
                <a:latin typeface="Arial" panose="020B0604020202020204" pitchFamily="34" charset="0"/>
                <a:cs typeface="Arial" panose="020B0604020202020204" pitchFamily="34" charset="0"/>
              </a:rPr>
              <a:t>γ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9425449" y="4410589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2.2 MeV </a:t>
            </a:r>
            <a:r>
              <a:rPr lang="el-GR" dirty="0" smtClean="0">
                <a:latin typeface="Arial" panose="020B0604020202020204" pitchFamily="34" charset="0"/>
                <a:cs typeface="Arial" panose="020B0604020202020204" pitchFamily="34" charset="0"/>
              </a:rPr>
              <a:t>γ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Content Placeholder 2"/>
          <p:cNvSpPr>
            <a:spLocks noGrp="1"/>
          </p:cNvSpPr>
          <p:nvPr>
            <p:ph idx="1"/>
          </p:nvPr>
        </p:nvSpPr>
        <p:spPr>
          <a:xfrm>
            <a:off x="1340355" y="4330283"/>
            <a:ext cx="2787389" cy="194745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To tag alpha-n reactions:</a:t>
            </a:r>
          </a:p>
          <a:p>
            <a:pPr>
              <a:lnSpc>
                <a:spcPct val="150000"/>
              </a:lnSpc>
              <a:spcBef>
                <a:spcPts val="600"/>
              </a:spcBef>
              <a:buFont typeface="Calibri" panose="020F0502020204030204" pitchFamily="34" charset="0"/>
              <a:buChar char="―"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nergy of the 1</a:t>
            </a:r>
            <a:r>
              <a:rPr lang="en-CA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 trigger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―"/>
            </a:pP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Energy of the 2</a:t>
            </a:r>
            <a:r>
              <a:rPr lang="en-CA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 trigger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―"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ime difference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―"/>
            </a:pP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Position difference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3" name="Straight Arrow Connector 122"/>
          <p:cNvCxnSpPr>
            <a:stCxn id="4" idx="5"/>
          </p:cNvCxnSpPr>
          <p:nvPr/>
        </p:nvCxnSpPr>
        <p:spPr>
          <a:xfrm>
            <a:off x="1905859" y="2817502"/>
            <a:ext cx="612054" cy="712275"/>
          </a:xfrm>
          <a:prstGeom prst="straightConnector1">
            <a:avLst/>
          </a:prstGeom>
          <a:ln>
            <a:solidFill>
              <a:schemeClr val="dk1">
                <a:shade val="95000"/>
                <a:satMod val="150000"/>
              </a:schemeClr>
            </a:solidFill>
            <a:headEnd w="lg" len="lg"/>
            <a:tailEnd type="triangle" w="lg" len="lg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/>
          <p:nvPr/>
        </p:nvCxnSpPr>
        <p:spPr>
          <a:xfrm>
            <a:off x="7708572" y="4832076"/>
            <a:ext cx="633062" cy="882304"/>
          </a:xfrm>
          <a:prstGeom prst="straightConnector1">
            <a:avLst/>
          </a:prstGeom>
          <a:ln w="38100">
            <a:solidFill>
              <a:srgbClr val="0070C0"/>
            </a:solidFill>
            <a:headEnd w="lg" len="lg"/>
            <a:tailEnd type="triangle" w="lg" len="lg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8" name="Straight Arrow Connector 137"/>
          <p:cNvCxnSpPr>
            <a:endCxn id="8" idx="2"/>
          </p:cNvCxnSpPr>
          <p:nvPr/>
        </p:nvCxnSpPr>
        <p:spPr>
          <a:xfrm flipV="1">
            <a:off x="2512277" y="3529777"/>
            <a:ext cx="1095934" cy="5162"/>
          </a:xfrm>
          <a:prstGeom prst="straightConnector1">
            <a:avLst/>
          </a:prstGeom>
          <a:ln>
            <a:solidFill>
              <a:schemeClr val="dk1">
                <a:shade val="95000"/>
                <a:satMod val="150000"/>
              </a:schemeClr>
            </a:solidFill>
            <a:headEnd w="lg" len="lg"/>
            <a:tailEnd type="triangle" w="lg" len="lg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1" name="Straight Arrow Connector 140"/>
          <p:cNvCxnSpPr>
            <a:endCxn id="53" idx="1"/>
          </p:cNvCxnSpPr>
          <p:nvPr/>
        </p:nvCxnSpPr>
        <p:spPr>
          <a:xfrm>
            <a:off x="8360877" y="5714380"/>
            <a:ext cx="766218" cy="0"/>
          </a:xfrm>
          <a:prstGeom prst="straightConnector1">
            <a:avLst/>
          </a:prstGeom>
          <a:ln>
            <a:solidFill>
              <a:schemeClr val="dk1">
                <a:shade val="95000"/>
                <a:satMod val="150000"/>
              </a:schemeClr>
            </a:solidFill>
            <a:headEnd w="lg" len="lg"/>
            <a:tailEnd type="triangle" w="lg" len="lg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0842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Alpha-n Simulation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22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CA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Alpha particles from </a:t>
            </a:r>
            <a:r>
              <a:rPr lang="en-CA" sz="22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210</a:t>
            </a:r>
            <a:r>
              <a:rPr lang="en-CA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Po were mimicked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using the SNO+ RAT simulation and analysis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– 10 million 5.3 MeV alpha particles were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simulated at a depth up to 0.1 </a:t>
            </a:r>
            <a:r>
              <a:rPr lang="el-GR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μ</a:t>
            </a:r>
            <a:r>
              <a:rPr lang="en-CA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m on both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the inner and outer surfaces of the AV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CA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– The AV was filled with UPW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24240" y="2126337"/>
            <a:ext cx="4122105" cy="414409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84259" y="4791432"/>
            <a:ext cx="11079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b="1" dirty="0" smtClean="0">
                <a:latin typeface="Arial" panose="020B0604020202020204" pitchFamily="34" charset="0"/>
              </a:rPr>
              <a:t>Inner AV</a:t>
            </a:r>
            <a:endParaRPr lang="en-CA" b="1" dirty="0"/>
          </a:p>
        </p:txBody>
      </p:sp>
      <p:sp>
        <p:nvSpPr>
          <p:cNvPr id="10" name="Rectangle 9"/>
          <p:cNvSpPr/>
          <p:nvPr/>
        </p:nvSpPr>
        <p:spPr>
          <a:xfrm>
            <a:off x="6068102" y="5948283"/>
            <a:ext cx="11592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b="1" dirty="0" smtClean="0">
                <a:latin typeface="Arial" panose="020B0604020202020204" pitchFamily="34" charset="0"/>
              </a:rPr>
              <a:t>Outer AV</a:t>
            </a:r>
            <a:endParaRPr lang="en-CA" b="1" dirty="0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758609" y="5611491"/>
            <a:ext cx="468721" cy="376656"/>
          </a:xfrm>
          <a:prstGeom prst="straightConnector1">
            <a:avLst/>
          </a:prstGeom>
          <a:ln>
            <a:solidFill>
              <a:schemeClr val="dk1">
                <a:shade val="95000"/>
                <a:satMod val="150000"/>
              </a:schemeClr>
            </a:solidFill>
            <a:headEnd w="lg" len="lg"/>
            <a:tailEnd type="triangle" w="lg" len="lg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7784259" y="5160764"/>
            <a:ext cx="458595" cy="482203"/>
          </a:xfrm>
          <a:prstGeom prst="straightConnector1">
            <a:avLst/>
          </a:prstGeom>
          <a:ln>
            <a:solidFill>
              <a:schemeClr val="dk1">
                <a:shade val="95000"/>
                <a:satMod val="150000"/>
              </a:schemeClr>
            </a:solidFill>
            <a:headEnd w="lg" len="lg"/>
            <a:tailEnd type="triangle" w="lg" len="lg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5203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t's ME!!! - jamiegbreault@gmail.com - Gmail - Google Chrome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39" t="21512" r="18265" b="6933"/>
          <a:stretch/>
        </p:blipFill>
        <p:spPr>
          <a:xfrm>
            <a:off x="1080000" y="413584"/>
            <a:ext cx="10040002" cy="6120000"/>
          </a:xfrm>
        </p:spPr>
      </p:pic>
    </p:spTree>
    <p:extLst>
      <p:ext uri="{BB962C8B-B14F-4D97-AF65-F5344CB8AC3E}">
        <p14:creationId xmlns:p14="http://schemas.microsoft.com/office/powerpoint/2010/main" val="1655559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t's ME!!! - jamiegbreault@gmail.com - Gmail - Google Chrome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84" t="21709" r="18406" b="7041"/>
          <a:stretch/>
        </p:blipFill>
        <p:spPr>
          <a:xfrm>
            <a:off x="1054620" y="365125"/>
            <a:ext cx="10037524" cy="6120000"/>
          </a:xfrm>
        </p:spPr>
      </p:pic>
    </p:spTree>
    <p:extLst>
      <p:ext uri="{BB962C8B-B14F-4D97-AF65-F5344CB8AC3E}">
        <p14:creationId xmlns:p14="http://schemas.microsoft.com/office/powerpoint/2010/main" val="1560198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Boop.pdf - Google Chrome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88" t="20585" r="22692" b="17893"/>
          <a:stretch/>
        </p:blipFill>
        <p:spPr>
          <a:xfrm>
            <a:off x="1068945" y="444754"/>
            <a:ext cx="10074466" cy="6120000"/>
          </a:xfrm>
        </p:spPr>
      </p:pic>
    </p:spTree>
    <p:extLst>
      <p:ext uri="{BB962C8B-B14F-4D97-AF65-F5344CB8AC3E}">
        <p14:creationId xmlns:p14="http://schemas.microsoft.com/office/powerpoint/2010/main" val="3940953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3976" y="873039"/>
            <a:ext cx="5169322" cy="1029181"/>
          </a:xfrm>
        </p:spPr>
        <p:txBody>
          <a:bodyPr>
            <a:noAutofit/>
          </a:bodyPr>
          <a:lstStyle/>
          <a:p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CA" sz="24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trigger energy cut: &gt;1 MeV</a:t>
            </a:r>
          </a:p>
          <a:p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CA" sz="24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trigger energy cut: &gt;1 MeV</a:t>
            </a:r>
            <a:endParaRPr lang="en-C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Content Placeholder 3" descr="It's ME!!! - jamiegbreault@gmail.com - Gmail - Google Chrome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39" t="21512" r="18265" b="6933"/>
          <a:stretch/>
        </p:blipFill>
        <p:spPr>
          <a:xfrm>
            <a:off x="1666917" y="337979"/>
            <a:ext cx="3462610" cy="2110675"/>
          </a:xfrm>
          <a:prstGeom prst="rect">
            <a:avLst/>
          </a:prstGeom>
        </p:spPr>
      </p:pic>
      <p:pic>
        <p:nvPicPr>
          <p:cNvPr id="5" name="Content Placeholder 3" descr="It's ME!!! - jamiegbreault@gmail.com - Gmail - Google Chrome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84" t="21709" r="18406" b="7041"/>
          <a:stretch/>
        </p:blipFill>
        <p:spPr>
          <a:xfrm>
            <a:off x="1661365" y="2448687"/>
            <a:ext cx="3462611" cy="2111196"/>
          </a:xfrm>
          <a:prstGeom prst="rect">
            <a:avLst/>
          </a:prstGeom>
        </p:spPr>
      </p:pic>
      <p:pic>
        <p:nvPicPr>
          <p:cNvPr id="6" name="Content Placeholder 4" descr="Boop.pdf - Google Chrome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88" t="20585" r="22692" b="17893"/>
          <a:stretch/>
        </p:blipFill>
        <p:spPr>
          <a:xfrm>
            <a:off x="1655814" y="4559883"/>
            <a:ext cx="3475649" cy="2111374"/>
          </a:xfrm>
          <a:prstGeom prst="rect">
            <a:avLst/>
          </a:prstGeom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5123976" y="3242749"/>
            <a:ext cx="5169322" cy="5116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Time difference cut: &lt;1000 </a:t>
            </a:r>
            <a:r>
              <a:rPr lang="el-G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μ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5131463" y="5359755"/>
            <a:ext cx="5169322" cy="5116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Position difference cut: &lt;5 m</a:t>
            </a:r>
          </a:p>
        </p:txBody>
      </p:sp>
    </p:spTree>
    <p:extLst>
      <p:ext uri="{BB962C8B-B14F-4D97-AF65-F5344CB8AC3E}">
        <p14:creationId xmlns:p14="http://schemas.microsoft.com/office/powerpoint/2010/main" val="2235603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Applying Cuts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261872" y="1985554"/>
            <a:ext cx="8595360" cy="4194583"/>
          </a:xfrm>
        </p:spPr>
        <p:txBody>
          <a:bodyPr/>
          <a:lstStyle/>
          <a:p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For the nucleon decay study, the FV has a radius of 5.5 m and the ROI is from 5.4 to 9.0 MeV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18633995"/>
                  </p:ext>
                </p:extLst>
              </p:nvPr>
            </p:nvGraphicFramePr>
            <p:xfrm>
              <a:off x="2042833" y="2921902"/>
              <a:ext cx="7033437" cy="2165131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843263"/>
                    <a:gridCol w="3846219"/>
                    <a:gridCol w="1210614"/>
                    <a:gridCol w="1133341"/>
                  </a:tblGrid>
                  <a:tr h="368011">
                    <a:tc>
                      <a:txBody>
                        <a:bodyPr/>
                        <a:lstStyle/>
                        <a:p>
                          <a:pPr algn="l" fontAlgn="b"/>
                          <a:endParaRPr lang="en-CA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525" marR="9525" marT="9525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endParaRPr lang="en-CA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525" marR="9525" marT="9525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CA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Inner</a:t>
                          </a:r>
                          <a:r>
                            <a:rPr lang="en-CA" sz="1800" b="0" i="0" u="none" strike="noStrike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AV</a:t>
                          </a:r>
                          <a:endParaRPr lang="en-CA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CA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Outer AV</a:t>
                          </a:r>
                          <a:endParaRPr lang="en-CA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</a:tr>
                  <a:tr h="4492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CA" b="0" i="0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 marL="9525" marR="9525" marT="9525" marB="0" anchor="b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CA" sz="1800" u="none" strike="noStrike" dirty="0" smtClean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Triggered events </a:t>
                          </a:r>
                          <a:r>
                            <a:rPr lang="en-CA" sz="1800" u="none" strike="noStrike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within FV and ROI</a:t>
                          </a:r>
                          <a:endParaRPr lang="en-CA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CA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1984</a:t>
                          </a:r>
                          <a:endParaRPr lang="en-CA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CA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2081</a:t>
                          </a:r>
                          <a:endParaRPr lang="en-CA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</a:tr>
                  <a:tr h="449280"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CA" b="0" i="0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en-CA" b="0" i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A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CA" sz="1800" u="none" strike="noStrike" dirty="0" smtClean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Tagged </a:t>
                          </a:r>
                          <a:r>
                            <a:rPr lang="en-CA" sz="1800" u="none" strike="noStrike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1st triggered events</a:t>
                          </a:r>
                          <a:endParaRPr lang="en-CA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CA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44</a:t>
                          </a:r>
                          <a:endParaRPr lang="en-CA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CA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69</a:t>
                          </a:r>
                          <a:endParaRPr lang="en-CA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</a:tr>
                  <a:tr h="449280"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CA" b="0" i="0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en-CA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A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CA" sz="1800" u="none" strike="noStrike" dirty="0" smtClean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Tagged </a:t>
                          </a:r>
                          <a:r>
                            <a:rPr lang="en-CA" sz="1800" u="none" strike="noStrike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2nd triggered events</a:t>
                          </a:r>
                          <a:endParaRPr lang="en-CA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CA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7</a:t>
                          </a:r>
                          <a:endParaRPr lang="en-CA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CA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</a:t>
                          </a:r>
                          <a:endParaRPr lang="en-CA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</a:tr>
                  <a:tr h="44928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CA" smtClean="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  <m:r>
                                  <m:rPr>
                                    <m:sty m:val="p"/>
                                  </m:rPr>
                                  <a:rPr lang="en-CA" b="0" i="0" smtClean="0">
                                    <a:latin typeface="Cambria Math" panose="02040503050406030204" pitchFamily="18" charset="0"/>
                                  </a:rPr>
                                  <m:t>ff</m:t>
                                </m:r>
                              </m:oMath>
                            </m:oMathPara>
                          </a14:m>
                          <a:endParaRPr lang="en-CA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CA" sz="1800" u="none" strike="noStrike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Tagging </a:t>
                          </a:r>
                          <a:r>
                            <a:rPr lang="en-CA" sz="1800" u="none" strike="noStrike" dirty="0" smtClean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efficiency</a:t>
                          </a:r>
                          <a:endParaRPr lang="en-CA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CA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2.57%</a:t>
                          </a:r>
                          <a:endParaRPr lang="en-CA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CA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3.46%</a:t>
                          </a:r>
                          <a:endParaRPr lang="en-CA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18633995"/>
                  </p:ext>
                </p:extLst>
              </p:nvPr>
            </p:nvGraphicFramePr>
            <p:xfrm>
              <a:off x="2042833" y="2921902"/>
              <a:ext cx="7033437" cy="2165131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843263"/>
                    <a:gridCol w="3846219"/>
                    <a:gridCol w="1210614"/>
                    <a:gridCol w="1133341"/>
                  </a:tblGrid>
                  <a:tr h="368011">
                    <a:tc>
                      <a:txBody>
                        <a:bodyPr/>
                        <a:lstStyle/>
                        <a:p>
                          <a:pPr algn="l" fontAlgn="b"/>
                          <a:endParaRPr lang="en-CA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525" marR="9525" marT="9525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endParaRPr lang="en-CA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525" marR="9525" marT="9525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CA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Inner</a:t>
                          </a:r>
                          <a:r>
                            <a:rPr lang="en-CA" sz="1800" b="0" i="0" u="none" strike="noStrike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AV</a:t>
                          </a:r>
                          <a:endParaRPr lang="en-CA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CA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Outer AV</a:t>
                          </a:r>
                          <a:endParaRPr lang="en-CA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</a:tr>
                  <a:tr h="449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b">
                        <a:blipFill rotWithShape="0">
                          <a:blip r:embed="rId2"/>
                          <a:stretch>
                            <a:fillRect l="-725" t="-84932" r="-737681" b="-3356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CA" sz="1800" u="none" strike="noStrike" dirty="0" smtClean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Triggered events </a:t>
                          </a:r>
                          <a:r>
                            <a:rPr lang="en-CA" sz="1800" u="none" strike="noStrike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within FV and ROI</a:t>
                          </a:r>
                          <a:endParaRPr lang="en-CA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CA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1984</a:t>
                          </a:r>
                          <a:endParaRPr lang="en-CA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CA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2081</a:t>
                          </a:r>
                          <a:endParaRPr lang="en-CA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</a:tr>
                  <a:tr h="449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b">
                        <a:blipFill rotWithShape="0">
                          <a:blip r:embed="rId2"/>
                          <a:stretch>
                            <a:fillRect l="-725" t="-182432" r="-737681" b="-2310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CA" sz="1800" u="none" strike="noStrike" dirty="0" smtClean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Tagged </a:t>
                          </a:r>
                          <a:r>
                            <a:rPr lang="en-CA" sz="1800" u="none" strike="noStrike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1st triggered events</a:t>
                          </a:r>
                          <a:endParaRPr lang="en-CA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CA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44</a:t>
                          </a:r>
                          <a:endParaRPr lang="en-CA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CA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69</a:t>
                          </a:r>
                          <a:endParaRPr lang="en-CA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</a:tr>
                  <a:tr h="449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b">
                        <a:blipFill rotWithShape="0">
                          <a:blip r:embed="rId2"/>
                          <a:stretch>
                            <a:fillRect l="-725" t="-282432" r="-737681" b="-1310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CA" sz="1800" u="none" strike="noStrike" dirty="0" smtClean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Tagged </a:t>
                          </a:r>
                          <a:r>
                            <a:rPr lang="en-CA" sz="1800" u="none" strike="noStrike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2nd triggered events</a:t>
                          </a:r>
                          <a:endParaRPr lang="en-CA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CA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7</a:t>
                          </a:r>
                          <a:endParaRPr lang="en-CA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CA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</a:t>
                          </a:r>
                          <a:endParaRPr lang="en-CA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</a:tr>
                  <a:tr h="449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b">
                        <a:blipFill rotWithShape="0">
                          <a:blip r:embed="rId2"/>
                          <a:stretch>
                            <a:fillRect l="-725" t="-382432" r="-737681" b="-310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CA" sz="1800" u="none" strike="noStrike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Tagging </a:t>
                          </a:r>
                          <a:r>
                            <a:rPr lang="en-CA" sz="1800" u="none" strike="noStrike" dirty="0" smtClean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efficiency</a:t>
                          </a:r>
                          <a:endParaRPr lang="en-CA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CA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2.57%</a:t>
                          </a:r>
                          <a:endParaRPr lang="en-CA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CA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3.46%</a:t>
                          </a:r>
                          <a:endParaRPr lang="en-CA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525" marR="9525" marT="9525" marB="0" anchor="b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868977" y="5678074"/>
                <a:ext cx="1381147" cy="5020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CA" smtClean="0">
                          <a:latin typeface="Cambria Math" panose="02040503050406030204" pitchFamily="18" charset="0"/>
                        </a:rPr>
                        <m:t>E</m:t>
                      </m:r>
                      <m:r>
                        <m:rPr>
                          <m:sty m:val="p"/>
                        </m:rPr>
                        <a:rPr lang="en-CA" b="0" i="0" smtClean="0">
                          <a:latin typeface="Cambria Math" panose="02040503050406030204" pitchFamily="18" charset="0"/>
                        </a:rPr>
                        <m:t>ff</m:t>
                      </m:r>
                      <m:r>
                        <a:rPr lang="en-CA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CA" b="0" i="0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CA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0" smtClean="0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r>
                                <m:rPr>
                                  <m:sty m:val="p"/>
                                </m:rPr>
                                <a:rPr lang="en-CA" b="0" i="0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CA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den>
                      </m:f>
                    </m:oMath>
                  </m:oMathPara>
                </a14:m>
                <a:endParaRPr lang="en-CA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8977" y="5678074"/>
                <a:ext cx="1381147" cy="50206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6491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entury Schoolbook" panose="02040604050505020304" pitchFamily="18" charset="0"/>
              <a:buChar char="–"/>
            </a:pP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Alpha-n reactions are tagged by using the emitted photons as a signature for these reactions</a:t>
            </a:r>
          </a:p>
          <a:p>
            <a:pPr>
              <a:buFont typeface="Century Schoolbook" panose="02040604050505020304" pitchFamily="18" charset="0"/>
              <a:buChar char="–"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bout 3% of the events can be tagged, which is not great but who cares</a:t>
            </a:r>
          </a:p>
          <a:p>
            <a:pPr>
              <a:buFont typeface="Century Schoolbook" panose="02040604050505020304" pitchFamily="18" charset="0"/>
              <a:buChar char="–"/>
            </a:pP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next step is to do a similar analysis for the scintillator phase of the experiment</a:t>
            </a:r>
            <a:endParaRPr lang="en-C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507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t's ME!!! - jamiegbreault@gmail.com - Gmail - Google Chrome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92" t="21640" r="18513" b="6889"/>
          <a:stretch/>
        </p:blipFill>
        <p:spPr>
          <a:xfrm>
            <a:off x="1228577" y="249672"/>
            <a:ext cx="9364341" cy="6120000"/>
          </a:xfrm>
        </p:spPr>
      </p:pic>
    </p:spTree>
    <p:extLst>
      <p:ext uri="{BB962C8B-B14F-4D97-AF65-F5344CB8AC3E}">
        <p14:creationId xmlns:p14="http://schemas.microsoft.com/office/powerpoint/2010/main" val="1691381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3021</TotalTime>
  <Words>304</Words>
  <Application>Microsoft Office PowerPoint</Application>
  <PresentationFormat>Widescreen</PresentationFormat>
  <Paragraphs>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Cambria Math</vt:lpstr>
      <vt:lpstr>Century Schoolbook</vt:lpstr>
      <vt:lpstr>Wingdings 2</vt:lpstr>
      <vt:lpstr>View</vt:lpstr>
      <vt:lpstr>Tagging Alpha-n Reactions in SNO+</vt:lpstr>
      <vt:lpstr>SNO+</vt:lpstr>
      <vt:lpstr>Alpha Source</vt:lpstr>
      <vt:lpstr>Alpha-n Reactions</vt:lpstr>
      <vt:lpstr>Alpha-n Simulation</vt:lpstr>
      <vt:lpstr>PowerPoint Presentation</vt:lpstr>
      <vt:lpstr>PowerPoint Presentation</vt:lpstr>
      <vt:lpstr>PowerPoint Presentation</vt:lpstr>
      <vt:lpstr>PowerPoint Presentation</vt:lpstr>
      <vt:lpstr>Applying Cuts</vt:lpstr>
      <vt:lpstr>Conclusion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of the Alpha-N Study for the Water Phase</dc:title>
  <dc:creator>Jamie Breault</dc:creator>
  <cp:lastModifiedBy>Jamie Breault</cp:lastModifiedBy>
  <cp:revision>74</cp:revision>
  <dcterms:created xsi:type="dcterms:W3CDTF">2016-03-13T03:40:33Z</dcterms:created>
  <dcterms:modified xsi:type="dcterms:W3CDTF">2016-05-25T13:28:43Z</dcterms:modified>
</cp:coreProperties>
</file>