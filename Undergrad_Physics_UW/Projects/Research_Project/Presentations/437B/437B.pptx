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1"/>
  </p:sldMasterIdLst>
  <p:notesMasterIdLst>
    <p:notesMasterId r:id="rId10"/>
  </p:notesMasterIdLst>
  <p:sldIdLst>
    <p:sldId id="256" r:id="rId2"/>
    <p:sldId id="274" r:id="rId3"/>
    <p:sldId id="279" r:id="rId4"/>
    <p:sldId id="286" r:id="rId5"/>
    <p:sldId id="288" r:id="rId6"/>
    <p:sldId id="290" r:id="rId7"/>
    <p:sldId id="287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A9"/>
    <a:srgbClr val="FFFFB2"/>
    <a:srgbClr val="FFFE6F"/>
    <a:srgbClr val="E60000"/>
    <a:srgbClr val="009946"/>
    <a:srgbClr val="00D14F"/>
    <a:srgbClr val="0016FF"/>
    <a:srgbClr val="0094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EF620-8F3C-4578-81FD-5BE0FB37BFE2}" type="datetimeFigureOut">
              <a:rPr lang="en-CA" smtClean="0"/>
              <a:t>2018-04-05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77A91-26DF-48AA-8527-23FEC3A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77A91-26DF-48AA-8527-23FEC3A0FC2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841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77A91-26DF-48AA-8527-23FEC3A0FC2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89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176C294-5FF7-CA41-A5AD-7BF9C94C2AFA}" type="datetime1">
              <a:rPr lang="en-CA" smtClean="0"/>
              <a:t>2018-04-05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FDE-F578-654E-A6B3-6845845FC675}" type="datetime1">
              <a:rPr lang="en-CA" smtClean="0"/>
              <a:t>2018-04-05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172D8-6205-3249-8C7B-62C985D86C77}" type="datetime1">
              <a:rPr lang="en-CA" smtClean="0"/>
              <a:t>2018-04-05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A7159-B130-8746-8489-6891D78FC0EA}" type="datetime1">
              <a:rPr lang="en-CA" smtClean="0"/>
              <a:t>2018-04-05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AF45-C5B5-3B4F-A8C0-465F688042E8}" type="datetime1">
              <a:rPr lang="en-CA" smtClean="0"/>
              <a:t>2018-04-05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BD823-4134-784E-B175-8969A0A6E069}" type="datetime1">
              <a:rPr lang="en-CA" smtClean="0"/>
              <a:t>2018-04-05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E52C-DC9C-0341-8A81-F96780261BFF}" type="datetime1">
              <a:rPr lang="en-CA" smtClean="0"/>
              <a:t>2018-04-05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C2A3-64EC-A247-B7C4-393928E678F0}" type="datetime1">
              <a:rPr lang="en-CA" smtClean="0"/>
              <a:t>2018-04-05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B145-50DC-0441-AE0D-C1EF1D00CB93}" type="datetime1">
              <a:rPr lang="en-CA" smtClean="0"/>
              <a:t>2018-04-05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A5AD-D1F5-D64B-8236-8C2EA744CE8B}" type="datetime1">
              <a:rPr lang="en-CA" smtClean="0"/>
              <a:t>2018-04-05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66A1E-4A8F-CB41-9CC7-E62D62DEF244}" type="datetime1">
              <a:rPr lang="en-CA" smtClean="0"/>
              <a:t>2018-04-05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1C42203-6F09-0744-BF57-DEF1623A8EE8}" type="datetime1">
              <a:rPr lang="en-CA" smtClean="0"/>
              <a:t>2018-04-05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B265678-C360-4280-8F76-4857ACC87F2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040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1" y="696565"/>
            <a:ext cx="9912809" cy="3345287"/>
          </a:xfrm>
        </p:spPr>
        <p:txBody>
          <a:bodyPr>
            <a:normAutofit/>
          </a:bodyPr>
          <a:lstStyle/>
          <a:p>
            <a:r>
              <a:rPr lang="en-CA" dirty="0" smtClean="0"/>
              <a:t>Can Gravity be a </a:t>
            </a:r>
            <a:r>
              <a:rPr lang="en-CA" dirty="0" smtClean="0"/>
              <a:t>Global Classical </a:t>
            </a:r>
            <a:r>
              <a:rPr lang="en-CA" dirty="0" smtClean="0"/>
              <a:t>Channel?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Jamie Breault</a:t>
            </a:r>
          </a:p>
          <a:p>
            <a:r>
              <a:rPr lang="en-CA" dirty="0" smtClean="0"/>
              <a:t>April</a:t>
            </a:r>
            <a:r>
              <a:rPr lang="en-CA" dirty="0" smtClean="0"/>
              <a:t> 5, </a:t>
            </a:r>
            <a:r>
              <a:rPr lang="en-CA" dirty="0" smtClean="0"/>
              <a:t>2018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49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 KTM Model of Gravity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460" y="1820863"/>
            <a:ext cx="8595360" cy="43513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Ancillae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propagate gravity via measurement and feedback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Gravity is classical under this model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Classicality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inability to increase entanglement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2</a:t>
            </a:fld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8341149" y="6457890"/>
            <a:ext cx="30321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Kafri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K., Taylor, J., &amp; Milburn, G. (2014). A Classical Channel for Gravitational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Decoherence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909" y="3769770"/>
            <a:ext cx="7269348" cy="24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1" y="377635"/>
            <a:ext cx="9692640" cy="1325562"/>
          </a:xfrm>
        </p:spPr>
        <p:txBody>
          <a:bodyPr/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Comparing Theory to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1" y="1828800"/>
            <a:ext cx="9972185" cy="41801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Atomic fountain experiments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Prepare atoms in </a:t>
            </a:r>
            <a:r>
              <a:rPr lang="en-CA" sz="20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superpositions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Determine visibility as a function of superposition size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Visibility is how long the atom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stays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superposition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We can obtain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maximum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lang="en-CA" sz="20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visibility and compare to experiment</a:t>
            </a:r>
            <a:endParaRPr lang="en-CA" sz="20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787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4120782" y="4507160"/>
            <a:ext cx="1260000" cy="90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118896" y="2194012"/>
            <a:ext cx="2721982" cy="156590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1261871" y="377635"/>
            <a:ext cx="9692640" cy="1325562"/>
          </a:xfrm>
        </p:spPr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Pairwise vs Global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ontent Placeholder 2"/>
          <p:cNvSpPr>
            <a:spLocks noGrp="1"/>
          </p:cNvSpPr>
          <p:nvPr>
            <p:ph idx="1"/>
          </p:nvPr>
        </p:nvSpPr>
        <p:spPr>
          <a:xfrm>
            <a:off x="964992" y="5379094"/>
            <a:ext cx="2520000" cy="59804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70000"/>
              </a:lnSpc>
              <a:spcBef>
                <a:spcPts val="600"/>
              </a:spcBef>
              <a:buNone/>
            </a:pP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 by </a:t>
            </a:r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Altamirano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4</a:t>
            </a:fld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2023009" y="2416594"/>
            <a:ext cx="2923965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sz="1400" b="1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Pairwise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ancillae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pair of particles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N-1 measurements per particle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N-1 feedbacks per particle</a:t>
            </a:r>
          </a:p>
          <a:p>
            <a:pPr algn="ctr"/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600782" y="4483402"/>
            <a:ext cx="1260000" cy="900000"/>
          </a:xfrm>
          <a:prstGeom prst="ellipse">
            <a:avLst/>
          </a:prstGeom>
          <a:solidFill>
            <a:srgbClr val="FF94A9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28231" y="4703821"/>
            <a:ext cx="12490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63646" y="4693705"/>
            <a:ext cx="8018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917306" y="4466961"/>
            <a:ext cx="1260000" cy="900000"/>
          </a:xfrm>
          <a:prstGeom prst="ellipse">
            <a:avLst/>
          </a:prstGeom>
          <a:solidFill>
            <a:srgbClr val="FFFFB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924468" y="2183945"/>
            <a:ext cx="2686090" cy="1608672"/>
          </a:xfrm>
          <a:prstGeom prst="ellipse">
            <a:avLst/>
          </a:prstGeom>
          <a:solidFill>
            <a:srgbClr val="FFFFB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394718" y="4495026"/>
            <a:ext cx="1260000" cy="900000"/>
          </a:xfrm>
          <a:prstGeom prst="ellipse">
            <a:avLst/>
          </a:prstGeom>
          <a:solidFill>
            <a:srgbClr val="FFFFB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394718" y="4703821"/>
            <a:ext cx="12490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6395" y="4669097"/>
            <a:ext cx="8018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Elbow Connector 29"/>
          <p:cNvCxnSpPr>
            <a:stCxn id="9" idx="0"/>
            <a:endCxn id="14" idx="4"/>
          </p:cNvCxnSpPr>
          <p:nvPr/>
        </p:nvCxnSpPr>
        <p:spPr>
          <a:xfrm rot="5400000" flipH="1" flipV="1">
            <a:off x="2493593" y="3497109"/>
            <a:ext cx="723482" cy="124910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4" idx="4"/>
            <a:endCxn id="13" idx="0"/>
          </p:cNvCxnSpPr>
          <p:nvPr/>
        </p:nvCxnSpPr>
        <p:spPr>
          <a:xfrm rot="16200000" flipH="1">
            <a:off x="3741714" y="3498092"/>
            <a:ext cx="747240" cy="1270895"/>
          </a:xfrm>
          <a:prstGeom prst="bentConnector3">
            <a:avLst>
              <a:gd name="adj1" fmla="val 4841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24" idx="0"/>
            <a:endCxn id="22" idx="4"/>
          </p:cNvCxnSpPr>
          <p:nvPr/>
        </p:nvCxnSpPr>
        <p:spPr>
          <a:xfrm rot="5400000" flipH="1" flipV="1">
            <a:off x="7294911" y="3522425"/>
            <a:ext cx="702409" cy="1242795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2" idx="4"/>
            <a:endCxn id="21" idx="0"/>
          </p:cNvCxnSpPr>
          <p:nvPr/>
        </p:nvCxnSpPr>
        <p:spPr>
          <a:xfrm rot="16200000" flipH="1">
            <a:off x="8570237" y="3489892"/>
            <a:ext cx="674344" cy="1279793"/>
          </a:xfrm>
          <a:prstGeom prst="bentConnector3">
            <a:avLst>
              <a:gd name="adj1" fmla="val 517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964386" y="6457890"/>
            <a:ext cx="36551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Altamirano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N., Corona-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Ugalde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P., Mann, R., &amp; </a:t>
            </a:r>
            <a:r>
              <a:rPr lang="en-US" sz="1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Zych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M. (2016). Gravity is not a Pairwise Local Classical Channel.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8" name="Content Placeholder 2"/>
          <p:cNvSpPr txBox="1">
            <a:spLocks/>
          </p:cNvSpPr>
          <p:nvPr/>
        </p:nvSpPr>
        <p:spPr>
          <a:xfrm>
            <a:off x="6060631" y="5395026"/>
            <a:ext cx="2038341" cy="440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 during 437B</a:t>
            </a:r>
          </a:p>
        </p:txBody>
      </p:sp>
      <p:sp>
        <p:nvSpPr>
          <p:cNvPr id="69" name="Content Placeholder 2"/>
          <p:cNvSpPr txBox="1">
            <a:spLocks/>
          </p:cNvSpPr>
          <p:nvPr/>
        </p:nvSpPr>
        <p:spPr>
          <a:xfrm>
            <a:off x="8978050" y="5366961"/>
            <a:ext cx="1138512" cy="442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Yet to do</a:t>
            </a:r>
          </a:p>
        </p:txBody>
      </p:sp>
      <p:sp>
        <p:nvSpPr>
          <p:cNvPr id="70" name="Content Placeholder 2"/>
          <p:cNvSpPr txBox="1">
            <a:spLocks/>
          </p:cNvSpPr>
          <p:nvPr/>
        </p:nvSpPr>
        <p:spPr>
          <a:xfrm>
            <a:off x="3479887" y="5402852"/>
            <a:ext cx="2520000" cy="4331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 in 437A</a:t>
            </a:r>
          </a:p>
        </p:txBody>
      </p:sp>
      <p:sp>
        <p:nvSpPr>
          <p:cNvPr id="72" name="Content Placeholder 2"/>
          <p:cNvSpPr txBox="1">
            <a:spLocks/>
          </p:cNvSpPr>
          <p:nvPr/>
        </p:nvSpPr>
        <p:spPr>
          <a:xfrm>
            <a:off x="2932336" y="4042204"/>
            <a:ext cx="1552992" cy="440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Minimization</a:t>
            </a:r>
          </a:p>
        </p:txBody>
      </p:sp>
      <p:sp>
        <p:nvSpPr>
          <p:cNvPr id="74" name="Content Placeholder 2"/>
          <p:cNvSpPr txBox="1">
            <a:spLocks/>
          </p:cNvSpPr>
          <p:nvPr/>
        </p:nvSpPr>
        <p:spPr>
          <a:xfrm>
            <a:off x="7592190" y="4072021"/>
            <a:ext cx="1350651" cy="440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Minimization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805531" y="2416594"/>
            <a:ext cx="2923965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sz="1400" b="1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particle</a:t>
            </a:r>
          </a:p>
          <a:p>
            <a:pPr algn="ctr"/>
            <a:r>
              <a:rPr lang="en-CA" sz="140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measurement 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particle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N-1 feedbacks per particle</a:t>
            </a:r>
          </a:p>
          <a:p>
            <a:pPr algn="ctr"/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6805531" y="1022201"/>
            <a:ext cx="363773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Heating </a:t>
            </a:r>
            <a:r>
              <a:rPr lang="en-CA" sz="1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 is the rate at which energy is </a:t>
            </a:r>
            <a:r>
              <a:rPr lang="en-CA" sz="14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introduced</a:t>
            </a: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400" dirty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the system via </a:t>
            </a:r>
            <a:r>
              <a:rPr lang="en-CA" sz="1400" dirty="0" err="1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ancilla</a:t>
            </a:r>
            <a:endParaRPr lang="en-CA" sz="1400" dirty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23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1261872" y="373443"/>
            <a:ext cx="9692640" cy="1325562"/>
          </a:xfrm>
        </p:spPr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Visibility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1005192"/>
              </p:ext>
            </p:extLst>
          </p:nvPr>
        </p:nvGraphicFramePr>
        <p:xfrm>
          <a:off x="1408500" y="2131811"/>
          <a:ext cx="9283416" cy="3674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616"/>
                <a:gridCol w="64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Master Equation</a:t>
                      </a:r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4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Minimum</a:t>
                      </a:r>
                      <a:r>
                        <a:rPr lang="en-CA" sz="1800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Measurement Strengths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Minimum</a:t>
                      </a:r>
                      <a:r>
                        <a:rPr lang="en-US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</a:t>
                      </a:r>
                      <a:r>
                        <a:rPr lang="en-US" baseline="0" dirty="0" err="1" smtClean="0">
                          <a:latin typeface="Arial" charset="0"/>
                          <a:ea typeface="Arial" charset="0"/>
                          <a:cs typeface="Arial" charset="0"/>
                        </a:rPr>
                        <a:t>Decoherence</a:t>
                      </a:r>
                      <a:r>
                        <a:rPr lang="en-US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Rate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Maximum Visibility</a:t>
                      </a:r>
                      <a:endParaRPr lang="en-US" dirty="0" smtClean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5</a:t>
            </a:fld>
            <a:endParaRPr lang="en-CA" dirty="0"/>
          </a:p>
        </p:txBody>
      </p:sp>
      <p:sp>
        <p:nvSpPr>
          <p:cNvPr id="3" name="TextBox 2"/>
          <p:cNvSpPr txBox="1"/>
          <p:nvPr/>
        </p:nvSpPr>
        <p:spPr>
          <a:xfrm>
            <a:off x="7619295" y="1463488"/>
            <a:ext cx="3072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D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→ Measurement Strength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K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→ Feedback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Strength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691" y="4064349"/>
            <a:ext cx="3277043" cy="7318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69" y="3179391"/>
            <a:ext cx="1920730" cy="6846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054" y="3179391"/>
            <a:ext cx="3510747" cy="6754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102" y="2243155"/>
            <a:ext cx="4876963" cy="6361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691" y="5005695"/>
            <a:ext cx="3382932" cy="7105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08500" y="1567108"/>
            <a:ext cx="541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Arial" charset="0"/>
                <a:ea typeface="Arial" charset="0"/>
                <a:cs typeface="Arial" charset="0"/>
              </a:rPr>
              <a:t>Global, </a:t>
            </a:r>
            <a:r>
              <a:rPr lang="en-US" sz="1400" dirty="0" err="1" smtClean="0">
                <a:latin typeface="Arial" charset="0"/>
                <a:ea typeface="Arial" charset="0"/>
                <a:cs typeface="Arial" charset="0"/>
              </a:rPr>
              <a:t>Decoherence</a:t>
            </a:r>
            <a:r>
              <a:rPr lang="en-US" sz="1400" dirty="0" smtClean="0">
                <a:latin typeface="Arial" charset="0"/>
                <a:ea typeface="Arial" charset="0"/>
                <a:cs typeface="Arial" charset="0"/>
              </a:rPr>
              <a:t> Rate Minimization</a:t>
            </a:r>
            <a:endParaRPr lang="en-US" sz="1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85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6</a:t>
            </a:fld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419"/>
          <a:stretch/>
        </p:blipFill>
        <p:spPr>
          <a:xfrm>
            <a:off x="7737775" y="4573744"/>
            <a:ext cx="511899" cy="6754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20"/>
          <a:stretch/>
        </p:blipFill>
        <p:spPr>
          <a:xfrm>
            <a:off x="7133751" y="4616940"/>
            <a:ext cx="556632" cy="684617"/>
          </a:xfrm>
          <a:prstGeom prst="rect">
            <a:avLst/>
          </a:prstGeom>
        </p:spPr>
      </p:pic>
      <p:graphicFrame>
        <p:nvGraphicFramePr>
          <p:cNvPr id="7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570991"/>
              </p:ext>
            </p:extLst>
          </p:nvPr>
        </p:nvGraphicFramePr>
        <p:xfrm>
          <a:off x="1338600" y="848615"/>
          <a:ext cx="9283416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616"/>
                <a:gridCol w="6400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Earth-Atom</a:t>
                      </a:r>
                      <a:r>
                        <a:rPr lang="en-CA" sz="1800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K Sum</a:t>
                      </a:r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Earth-Earth</a:t>
                      </a:r>
                      <a:r>
                        <a:rPr lang="en-CA" sz="1800" baseline="0" dirty="0" smtClean="0">
                          <a:latin typeface="Arial" charset="0"/>
                          <a:ea typeface="Arial" charset="0"/>
                          <a:cs typeface="Arial" charset="0"/>
                        </a:rPr>
                        <a:t> K Sum</a:t>
                      </a:r>
                      <a:endParaRPr lang="en-US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lide Number Placeholder 3"/>
          <p:cNvSpPr txBox="1">
            <a:spLocks/>
          </p:cNvSpPr>
          <p:nvPr/>
        </p:nvSpPr>
        <p:spPr>
          <a:xfrm>
            <a:off x="9946722" y="5517835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 lnSpcReduction="1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3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265678-C360-4280-8F76-4857ACC87F20}" type="slidenum">
              <a:rPr lang="en-CA" smtClean="0"/>
              <a:pPr/>
              <a:t>7</a:t>
            </a:fld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7271853" y="2726044"/>
            <a:ext cx="3350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→ Distance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K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→ Feedback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Strength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N → Number of Earth-Particles 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283" y="1797321"/>
            <a:ext cx="4160270" cy="8344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332" y="918467"/>
            <a:ext cx="3492232" cy="81340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1500" y="3548009"/>
            <a:ext cx="2788709" cy="276801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660136" y="3675343"/>
            <a:ext cx="2520000" cy="252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845196" y="3706679"/>
            <a:ext cx="334940" cy="3173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669269" y="3706679"/>
            <a:ext cx="334940" cy="3173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763056" y="5901666"/>
            <a:ext cx="334940" cy="3173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760090" y="5815325"/>
            <a:ext cx="334940" cy="31734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830136" y="3458009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903308" y="3337347"/>
            <a:ext cx="110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latin typeface="Arial" charset="0"/>
                <a:ea typeface="Arial" charset="0"/>
                <a:cs typeface="Arial" charset="0"/>
              </a:rPr>
              <a:t>Atom →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7481" y="4740349"/>
            <a:ext cx="110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Earth →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563381" y="3548737"/>
            <a:ext cx="1260000" cy="667408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752395" y="3644999"/>
            <a:ext cx="8819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Sums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803831" y="4065279"/>
            <a:ext cx="1260000" cy="667408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027310" y="4252190"/>
            <a:ext cx="813043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Sums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20"/>
          <a:stretch/>
        </p:blipFill>
        <p:spPr>
          <a:xfrm>
            <a:off x="7110434" y="4616940"/>
            <a:ext cx="556632" cy="684617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060383" y="4581821"/>
            <a:ext cx="1260000" cy="667408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549886" y="4805359"/>
            <a:ext cx="23436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79"/>
          <a:stretch/>
        </p:blipFill>
        <p:spPr>
          <a:xfrm>
            <a:off x="8617256" y="5097697"/>
            <a:ext cx="659358" cy="73187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8316935" y="5092499"/>
            <a:ext cx="1260000" cy="667408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860"/>
          <a:stretch/>
        </p:blipFill>
        <p:spPr>
          <a:xfrm>
            <a:off x="9880623" y="5605500"/>
            <a:ext cx="647483" cy="710522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9574365" y="5592858"/>
            <a:ext cx="1260000" cy="667408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Elbow Connector 31"/>
          <p:cNvCxnSpPr>
            <a:stCxn id="26" idx="4"/>
            <a:endCxn id="30" idx="2"/>
          </p:cNvCxnSpPr>
          <p:nvPr/>
        </p:nvCxnSpPr>
        <p:spPr>
          <a:xfrm rot="16200000" flipH="1">
            <a:off x="5407187" y="4002339"/>
            <a:ext cx="182838" cy="6104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30" idx="4"/>
          </p:cNvCxnSpPr>
          <p:nvPr/>
        </p:nvCxnSpPr>
        <p:spPr>
          <a:xfrm rot="16200000" flipH="1">
            <a:off x="6655688" y="4510830"/>
            <a:ext cx="182838" cy="6265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/>
          <p:nvPr/>
        </p:nvCxnSpPr>
        <p:spPr>
          <a:xfrm rot="16200000" flipH="1">
            <a:off x="7915172" y="5024440"/>
            <a:ext cx="176974" cy="6265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16200000" flipH="1">
            <a:off x="9177323" y="5529519"/>
            <a:ext cx="166655" cy="6274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79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7</a:t>
            </a:fld>
            <a:endParaRPr lang="en-CA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049" y="124681"/>
            <a:ext cx="8229599" cy="61721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996350" y="6469062"/>
            <a:ext cx="22964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Kovachy</a:t>
            </a:r>
            <a:r>
              <a:rPr lang="en-US" sz="10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, T. et. Al. </a:t>
            </a:r>
            <a:r>
              <a:rPr lang="en-US" sz="10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10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2015). Quantum </a:t>
            </a:r>
          </a:p>
          <a:p>
            <a:r>
              <a:rPr lang="en-US" sz="10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superposition at the half-</a:t>
            </a:r>
            <a:r>
              <a:rPr lang="en-US" sz="1000" dirty="0" err="1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metre</a:t>
            </a:r>
            <a:r>
              <a:rPr lang="en-US" sz="10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 scale.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06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Concluding Remarks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8B265678-C360-4280-8F76-4857ACC87F20}" type="slidenum">
              <a:rPr lang="en-CA" smtClean="0"/>
              <a:t>8</a:t>
            </a:fld>
            <a:endParaRPr lang="en-CA"/>
          </a:p>
        </p:txBody>
      </p:sp>
      <p:sp>
        <p:nvSpPr>
          <p:cNvPr id="31" name="Oval 30"/>
          <p:cNvSpPr/>
          <p:nvPr/>
        </p:nvSpPr>
        <p:spPr>
          <a:xfrm>
            <a:off x="3990154" y="4235482"/>
            <a:ext cx="1260000" cy="90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746663" y="2596680"/>
            <a:ext cx="1260000" cy="90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945294" y="2895246"/>
            <a:ext cx="86273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Pairwise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470154" y="4211724"/>
            <a:ext cx="1260000" cy="900000"/>
          </a:xfrm>
          <a:prstGeom prst="ellipse">
            <a:avLst/>
          </a:prstGeom>
          <a:solidFill>
            <a:srgbClr val="FF94A9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497603" y="4432143"/>
            <a:ext cx="12490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233018" y="4422027"/>
            <a:ext cx="8018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786678" y="4195283"/>
            <a:ext cx="1260000" cy="900000"/>
          </a:xfrm>
          <a:prstGeom prst="ellipse">
            <a:avLst/>
          </a:prstGeom>
          <a:solidFill>
            <a:srgbClr val="FFFFB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537717" y="2596678"/>
            <a:ext cx="1260000" cy="900000"/>
          </a:xfrm>
          <a:prstGeom prst="ellipse">
            <a:avLst/>
          </a:prstGeom>
          <a:solidFill>
            <a:srgbClr val="FFFFB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816499" y="2895245"/>
            <a:ext cx="7024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264090" y="4223348"/>
            <a:ext cx="1260000" cy="900000"/>
          </a:xfrm>
          <a:prstGeom prst="ellipse">
            <a:avLst/>
          </a:prstGeom>
          <a:solidFill>
            <a:srgbClr val="FF94A9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264090" y="4432143"/>
            <a:ext cx="12490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err="1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Decoherence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015767" y="4397419"/>
            <a:ext cx="80182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Heating</a:t>
            </a:r>
          </a:p>
          <a:p>
            <a:pPr algn="ctr"/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/>
          <p:cNvCxnSpPr>
            <a:stCxn id="38" idx="0"/>
            <a:endCxn id="43" idx="4"/>
          </p:cNvCxnSpPr>
          <p:nvPr/>
        </p:nvCxnSpPr>
        <p:spPr>
          <a:xfrm rot="5400000" flipH="1" flipV="1">
            <a:off x="2380886" y="3215948"/>
            <a:ext cx="715044" cy="1276509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43" idx="4"/>
            <a:endCxn id="42" idx="0"/>
          </p:cNvCxnSpPr>
          <p:nvPr/>
        </p:nvCxnSpPr>
        <p:spPr>
          <a:xfrm rot="16200000" flipH="1">
            <a:off x="3629007" y="3244335"/>
            <a:ext cx="738802" cy="1243491"/>
          </a:xfrm>
          <a:prstGeom prst="bentConnector3">
            <a:avLst>
              <a:gd name="adj1" fmla="val 4839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/>
          <p:cNvCxnSpPr/>
          <p:nvPr/>
        </p:nvCxnSpPr>
        <p:spPr>
          <a:xfrm rot="5400000" flipH="1" flipV="1">
            <a:off x="7167568" y="3223200"/>
            <a:ext cx="726670" cy="1273627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/>
          <p:cNvCxnSpPr/>
          <p:nvPr/>
        </p:nvCxnSpPr>
        <p:spPr>
          <a:xfrm rot="16200000" flipH="1">
            <a:off x="8442895" y="3221499"/>
            <a:ext cx="698605" cy="1248961"/>
          </a:xfrm>
          <a:prstGeom prst="bentConnector3">
            <a:avLst>
              <a:gd name="adj1" fmla="val 517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Content Placeholder 2"/>
          <p:cNvSpPr txBox="1">
            <a:spLocks/>
          </p:cNvSpPr>
          <p:nvPr/>
        </p:nvSpPr>
        <p:spPr>
          <a:xfrm>
            <a:off x="2801708" y="3770526"/>
            <a:ext cx="1552992" cy="440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dirty="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Minimization</a:t>
            </a:r>
          </a:p>
        </p:txBody>
      </p:sp>
      <p:sp>
        <p:nvSpPr>
          <p:cNvPr id="48" name="Content Placeholder 2"/>
          <p:cNvSpPr txBox="1">
            <a:spLocks/>
          </p:cNvSpPr>
          <p:nvPr/>
        </p:nvSpPr>
        <p:spPr>
          <a:xfrm>
            <a:off x="7461562" y="3800343"/>
            <a:ext cx="1350651" cy="440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CA" sz="1400" smtClean="0">
                <a:solidFill>
                  <a:srgbClr val="25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Minimization</a:t>
            </a:r>
            <a:endParaRPr lang="en-CA" sz="1400" dirty="0" smtClean="0">
              <a:solidFill>
                <a:srgbClr val="2525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6771</TotalTime>
  <Words>268</Words>
  <Application>Microsoft Macintosh PowerPoint</Application>
  <PresentationFormat>Widescreen</PresentationFormat>
  <Paragraphs>89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Century Schoolbook</vt:lpstr>
      <vt:lpstr>Wingdings 2</vt:lpstr>
      <vt:lpstr>Arial</vt:lpstr>
      <vt:lpstr>View</vt:lpstr>
      <vt:lpstr>Can Gravity be a Global Classical Channel?</vt:lpstr>
      <vt:lpstr>The KTM Model of Gravity</vt:lpstr>
      <vt:lpstr>Comparing Theory to Experiment</vt:lpstr>
      <vt:lpstr>Pairwise vs Global</vt:lpstr>
      <vt:lpstr>Maximum Visibility</vt:lpstr>
      <vt:lpstr>PowerPoint Presentation</vt:lpstr>
      <vt:lpstr>PowerPoint Presentation</vt:lpstr>
      <vt:lpstr>Concluding Remarks</vt:lpstr>
    </vt:vector>
  </TitlesOfParts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the Alpha-N Study for the Water Phase</dc:title>
  <dc:creator>Jamie Breault</dc:creator>
  <cp:lastModifiedBy>Jamie Germain Breault</cp:lastModifiedBy>
  <cp:revision>146</cp:revision>
  <dcterms:created xsi:type="dcterms:W3CDTF">2016-03-13T03:40:33Z</dcterms:created>
  <dcterms:modified xsi:type="dcterms:W3CDTF">2018-04-05T18:10:06Z</dcterms:modified>
</cp:coreProperties>
</file>