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1"/>
  </p:sldMasterIdLst>
  <p:notesMasterIdLst>
    <p:notesMasterId r:id="rId12"/>
  </p:notesMasterIdLst>
  <p:sldIdLst>
    <p:sldId id="256" r:id="rId2"/>
    <p:sldId id="274" r:id="rId3"/>
    <p:sldId id="278" r:id="rId4"/>
    <p:sldId id="279" r:id="rId5"/>
    <p:sldId id="281" r:id="rId6"/>
    <p:sldId id="280" r:id="rId7"/>
    <p:sldId id="283" r:id="rId8"/>
    <p:sldId id="284" r:id="rId9"/>
    <p:sldId id="271" r:id="rId10"/>
    <p:sldId id="28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0000"/>
    <a:srgbClr val="009946"/>
    <a:srgbClr val="00D14F"/>
    <a:srgbClr val="0016FF"/>
    <a:srgbClr val="0094FF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0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2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2EF620-8F3C-4578-81FD-5BE0FB37BFE2}" type="datetimeFigureOut">
              <a:rPr lang="en-CA" smtClean="0"/>
              <a:t>2018-01-03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C77A91-26DF-48AA-8527-23FEC3A0FC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8242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C77A91-26DF-48AA-8527-23FEC3A0FC2E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28418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C77A91-26DF-48AA-8527-23FEC3A0FC2E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2324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B176C294-5FF7-CA41-A5AD-7BF9C94C2AFA}" type="datetime1">
              <a:rPr lang="en-CA" smtClean="0"/>
              <a:t>2018-01-04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8B265678-C360-4280-8F76-4857ACC87F20}" type="slidenum">
              <a:rPr lang="en-CA" smtClean="0"/>
              <a:t>‹#›</a:t>
            </a:fld>
            <a:endParaRPr lang="en-CA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61628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4DFDE-F578-654E-A6B3-6845845FC675}" type="datetime1">
              <a:rPr lang="en-CA" smtClean="0"/>
              <a:t>2018-01-04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65678-C360-4280-8F76-4857ACC87F2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2788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172D8-6205-3249-8C7B-62C985D86C77}" type="datetime1">
              <a:rPr lang="en-CA" smtClean="0"/>
              <a:t>2018-01-04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65678-C360-4280-8F76-4857ACC87F20}" type="slidenum">
              <a:rPr lang="en-CA" smtClean="0"/>
              <a:t>‹#›</a:t>
            </a:fld>
            <a:endParaRPr lang="en-CA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16348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A7159-B130-8746-8489-6891D78FC0EA}" type="datetime1">
              <a:rPr lang="en-CA" smtClean="0"/>
              <a:t>2018-01-04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65678-C360-4280-8F76-4857ACC87F2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7590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8AF45-C5B5-3B4F-A8C0-465F688042E8}" type="datetime1">
              <a:rPr lang="en-CA" smtClean="0"/>
              <a:t>2018-01-04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65678-C360-4280-8F76-4857ACC87F2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18150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BD823-4134-784E-B175-8969A0A6E069}" type="datetime1">
              <a:rPr lang="en-CA" smtClean="0"/>
              <a:t>2018-01-04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65678-C360-4280-8F76-4857ACC87F2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176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E52C-DC9C-0341-8A81-F96780261BFF}" type="datetime1">
              <a:rPr lang="en-CA" smtClean="0"/>
              <a:t>2018-01-04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65678-C360-4280-8F76-4857ACC87F2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2515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2C2A3-64EC-A247-B7C4-393928E678F0}" type="datetime1">
              <a:rPr lang="en-CA" smtClean="0"/>
              <a:t>2018-01-04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65678-C360-4280-8F76-4857ACC87F2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1399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B145-50DC-0441-AE0D-C1EF1D00CB93}" type="datetime1">
              <a:rPr lang="en-CA" smtClean="0"/>
              <a:t>2018-01-04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65678-C360-4280-8F76-4857ACC87F2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4630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3A5AD-D1F5-D64B-8236-8C2EA744CE8B}" type="datetime1">
              <a:rPr lang="en-CA" smtClean="0"/>
              <a:t>2018-01-04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65678-C360-4280-8F76-4857ACC87F2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54781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66A1E-4A8F-CB41-9CC7-E62D62DEF244}" type="datetime1">
              <a:rPr lang="en-CA" smtClean="0"/>
              <a:t>2018-01-04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65678-C360-4280-8F76-4857ACC87F2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5588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41C42203-6F09-0744-BF57-DEF1623A8EE8}" type="datetime1">
              <a:rPr lang="en-CA" smtClean="0"/>
              <a:t>2018-01-04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8B265678-C360-4280-8F76-4857ACC87F2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8059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1" y="696565"/>
            <a:ext cx="9912809" cy="3345287"/>
          </a:xfrm>
        </p:spPr>
        <p:txBody>
          <a:bodyPr>
            <a:normAutofit/>
          </a:bodyPr>
          <a:lstStyle/>
          <a:p>
            <a:r>
              <a:rPr lang="en-CA" dirty="0" smtClean="0"/>
              <a:t>Can Gravity be a Pairwise Local Classical Channel?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 smtClean="0"/>
              <a:t>Jamie Breault</a:t>
            </a:r>
          </a:p>
          <a:p>
            <a:r>
              <a:rPr lang="en-CA" dirty="0" smtClean="0"/>
              <a:t>Jan 4, 2018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24907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Pairwise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CA" sz="20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Particles interact gravitationally via </a:t>
            </a:r>
            <a:r>
              <a:rPr lang="en-CA" sz="2000" dirty="0" err="1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ancillae</a:t>
            </a:r>
            <a:endParaRPr lang="en-CA" sz="2000" dirty="0" smtClean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CA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CA" dirty="0" err="1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Ancillae</a:t>
            </a:r>
            <a:r>
              <a:rPr lang="en-CA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are force carrying particles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CA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There are 2 </a:t>
            </a:r>
            <a:r>
              <a:rPr lang="en-CA" dirty="0" err="1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ancillae</a:t>
            </a:r>
            <a:r>
              <a:rPr lang="en-CA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each pair of particles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2203326" y="4132104"/>
            <a:ext cx="7200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203326" y="4700649"/>
            <a:ext cx="7200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2203326" y="5209309"/>
            <a:ext cx="7200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2203326" y="5729844"/>
            <a:ext cx="7200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905057" y="3964360"/>
            <a:ext cx="629392" cy="888188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237013" y="5055420"/>
            <a:ext cx="629392" cy="817898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7176617" y="3964360"/>
            <a:ext cx="629392" cy="1398837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5730976" y="4544771"/>
            <a:ext cx="629392" cy="1328547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261873" y="3978216"/>
            <a:ext cx="931665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Particle 1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340589" y="5055420"/>
            <a:ext cx="862737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CA" sz="1400" dirty="0" err="1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Ancilla</a:t>
            </a:r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340589" y="4544771"/>
            <a:ext cx="862737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CA" sz="140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Ancilla</a:t>
            </a:r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261872" y="5575955"/>
            <a:ext cx="931665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Particle 2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>
            <a:off x="7176617" y="4700649"/>
            <a:ext cx="629392" cy="0"/>
          </a:xfrm>
          <a:prstGeom prst="line">
            <a:avLst/>
          </a:prstGeom>
          <a:ln w="254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5730976" y="5209044"/>
            <a:ext cx="629392" cy="0"/>
          </a:xfrm>
          <a:prstGeom prst="line">
            <a:avLst/>
          </a:prstGeom>
          <a:ln w="254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8341149" y="6457890"/>
            <a:ext cx="303216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Kafri</a:t>
            </a:r>
            <a:r>
              <a:rPr lang="en-US" sz="10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, K., Taylor, J., &amp; Milburn, G. (2014). A Classical Channel for Gravitational </a:t>
            </a:r>
            <a:r>
              <a:rPr lang="en-US" sz="1000" dirty="0" err="1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Decoherence</a:t>
            </a:r>
            <a:r>
              <a:rPr lang="en-US" sz="10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.</a:t>
            </a:r>
            <a:endParaRPr lang="en-US" sz="1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B265678-C360-4280-8F76-4857ACC87F20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4524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Classical Channel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1828801"/>
            <a:ext cx="8595360" cy="109253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CA" sz="20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Does not increase entanglement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CA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Equivalent to </a:t>
            </a:r>
            <a:r>
              <a:rPr lang="en-CA" dirty="0" err="1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anicillae</a:t>
            </a:r>
            <a:r>
              <a:rPr lang="en-CA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conducting weak measurements and feedback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1266147" y="4406446"/>
            <a:ext cx="1008000" cy="10080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1304314" y="4756557"/>
            <a:ext cx="931665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Particle 1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9" name="Oval 38"/>
          <p:cNvSpPr/>
          <p:nvPr/>
        </p:nvSpPr>
        <p:spPr>
          <a:xfrm>
            <a:off x="3904937" y="4406446"/>
            <a:ext cx="1008000" cy="10080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2585542" y="4406446"/>
            <a:ext cx="1008000" cy="10080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2629319" y="4648835"/>
            <a:ext cx="92044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Quantum</a:t>
            </a:r>
          </a:p>
          <a:p>
            <a:pPr algn="ctr"/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Potential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43104" y="4756557"/>
            <a:ext cx="931665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Particle 2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" name="Straight Arrow Connector 6"/>
          <p:cNvCxnSpPr>
            <a:stCxn id="5" idx="6"/>
            <a:endCxn id="40" idx="2"/>
          </p:cNvCxnSpPr>
          <p:nvPr/>
        </p:nvCxnSpPr>
        <p:spPr>
          <a:xfrm>
            <a:off x="2274147" y="4910446"/>
            <a:ext cx="3113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3593542" y="4910445"/>
            <a:ext cx="3113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2585542" y="3889015"/>
            <a:ext cx="1008000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Entangled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5" name="Oval 44"/>
          <p:cNvSpPr/>
          <p:nvPr/>
        </p:nvSpPr>
        <p:spPr>
          <a:xfrm>
            <a:off x="5919295" y="4406445"/>
            <a:ext cx="1008000" cy="10080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5957462" y="4756556"/>
            <a:ext cx="931665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Particle 1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7" name="Oval 46"/>
          <p:cNvSpPr/>
          <p:nvPr/>
        </p:nvSpPr>
        <p:spPr>
          <a:xfrm>
            <a:off x="8558085" y="4406445"/>
            <a:ext cx="1008000" cy="10080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7238690" y="4406445"/>
            <a:ext cx="1008000" cy="10080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7195103" y="4697605"/>
            <a:ext cx="10951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CA" sz="12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Classical(</a:t>
            </a:r>
            <a:r>
              <a:rPr lang="en-CA" sz="1200" dirty="0" err="1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ish</a:t>
            </a:r>
            <a:r>
              <a:rPr lang="en-CA" sz="12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ctr"/>
            <a:r>
              <a:rPr lang="en-CA" sz="12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Potential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96252" y="4756556"/>
            <a:ext cx="931665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Particle 2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1" name="Straight Arrow Connector 50"/>
          <p:cNvCxnSpPr>
            <a:stCxn id="48" idx="6"/>
          </p:cNvCxnSpPr>
          <p:nvPr/>
        </p:nvCxnSpPr>
        <p:spPr>
          <a:xfrm>
            <a:off x="6927295" y="4910445"/>
            <a:ext cx="3113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7070259" y="3889014"/>
            <a:ext cx="1357562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Entangled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2" name="Curved Connector 61"/>
          <p:cNvCxnSpPr>
            <a:stCxn id="44" idx="1"/>
            <a:endCxn id="5" idx="0"/>
          </p:cNvCxnSpPr>
          <p:nvPr/>
        </p:nvCxnSpPr>
        <p:spPr>
          <a:xfrm rot="10800000" flipV="1">
            <a:off x="1770148" y="4042904"/>
            <a:ext cx="815395" cy="36354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urved Connector 65"/>
          <p:cNvCxnSpPr>
            <a:stCxn id="44" idx="3"/>
            <a:endCxn id="39" idx="0"/>
          </p:cNvCxnSpPr>
          <p:nvPr/>
        </p:nvCxnSpPr>
        <p:spPr>
          <a:xfrm>
            <a:off x="3593542" y="4042904"/>
            <a:ext cx="815395" cy="36354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urved Connector 68"/>
          <p:cNvCxnSpPr>
            <a:stCxn id="53" idx="3"/>
            <a:endCxn id="47" idx="0"/>
          </p:cNvCxnSpPr>
          <p:nvPr/>
        </p:nvCxnSpPr>
        <p:spPr>
          <a:xfrm>
            <a:off x="8427821" y="4042903"/>
            <a:ext cx="634264" cy="36354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urved Connector 70"/>
          <p:cNvCxnSpPr>
            <a:stCxn id="53" idx="1"/>
            <a:endCxn id="45" idx="0"/>
          </p:cNvCxnSpPr>
          <p:nvPr/>
        </p:nvCxnSpPr>
        <p:spPr>
          <a:xfrm rot="10800000" flipV="1">
            <a:off x="6423295" y="4042903"/>
            <a:ext cx="646964" cy="36354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urved Connector 74"/>
          <p:cNvCxnSpPr>
            <a:stCxn id="45" idx="4"/>
            <a:endCxn id="47" idx="4"/>
          </p:cNvCxnSpPr>
          <p:nvPr/>
        </p:nvCxnSpPr>
        <p:spPr>
          <a:xfrm rot="16200000" flipH="1">
            <a:off x="7742690" y="4095050"/>
            <a:ext cx="12700" cy="2638790"/>
          </a:xfrm>
          <a:prstGeom prst="curvedConnector3">
            <a:avLst>
              <a:gd name="adj1" fmla="val 180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6845756" y="5604316"/>
            <a:ext cx="1806567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CA" sz="140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 Measurement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1925843" y="3519682"/>
            <a:ext cx="2327395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CA" b="1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Quantum Channel</a:t>
            </a:r>
            <a:endParaRPr lang="en-US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6578992" y="3519682"/>
            <a:ext cx="2327395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CA" b="1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Classical </a:t>
            </a:r>
            <a:r>
              <a:rPr lang="en-CA" b="1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Channel</a:t>
            </a:r>
            <a:endParaRPr lang="en-US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81" name="Straight Arrow Connector 80"/>
          <p:cNvCxnSpPr>
            <a:stCxn id="48" idx="6"/>
            <a:endCxn id="47" idx="2"/>
          </p:cNvCxnSpPr>
          <p:nvPr/>
        </p:nvCxnSpPr>
        <p:spPr>
          <a:xfrm>
            <a:off x="8246690" y="4910445"/>
            <a:ext cx="3113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7050949" y="6457890"/>
            <a:ext cx="44097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Altamirano</a:t>
            </a:r>
            <a:r>
              <a:rPr lang="en-US" sz="10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, N., Corona- </a:t>
            </a:r>
            <a:r>
              <a:rPr lang="en-US" sz="1000" dirty="0" err="1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Ugalde</a:t>
            </a:r>
            <a:r>
              <a:rPr lang="en-US" sz="10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, P., Khosla, K., Milburn, G., &amp; Mann, R. (2017). Emergent Dark Energy via </a:t>
            </a:r>
            <a:r>
              <a:rPr lang="en-US" sz="1000" dirty="0" err="1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Decoherence</a:t>
            </a:r>
            <a:r>
              <a:rPr lang="en-US" sz="10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 in Quantum interactions.</a:t>
            </a:r>
            <a:endParaRPr lang="en-US" sz="1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B265678-C360-4280-8F76-4857ACC87F20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7852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Comparing Theory to Experiment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1" y="1828800"/>
            <a:ext cx="9972185" cy="418011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CA" sz="20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Atomic fountain experiments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CA" sz="20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 </a:t>
            </a:r>
            <a:r>
              <a:rPr lang="en-CA" sz="20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Prepare atoms in </a:t>
            </a:r>
            <a:r>
              <a:rPr lang="en-CA" sz="2000" dirty="0" err="1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superpositions</a:t>
            </a:r>
            <a:endParaRPr lang="en-CA" sz="2000" dirty="0" smtClean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CA" sz="20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 </a:t>
            </a:r>
            <a:r>
              <a:rPr lang="en-CA" sz="20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Determine visibility as a function of superposition </a:t>
            </a:r>
            <a:r>
              <a:rPr lang="en-CA" sz="20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CA" sz="20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 </a:t>
            </a:r>
            <a:r>
              <a:rPr lang="en-CA" sz="20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Visibility is how long the atom can stay in a superposition</a:t>
            </a:r>
            <a:endParaRPr lang="en-CA" sz="2000" dirty="0" smtClean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CA" sz="20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We can obtain maximum theoretical visibility as a function of experiment parameters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CA" sz="20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 </a:t>
            </a:r>
            <a:r>
              <a:rPr lang="en-CA" sz="20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CA" sz="2000" dirty="0" err="1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Decoherence</a:t>
            </a:r>
            <a:r>
              <a:rPr lang="en-CA" sz="20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rate minimization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CA" sz="20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 </a:t>
            </a:r>
            <a:r>
              <a:rPr lang="en-CA" sz="20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Heating rate minimization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B265678-C360-4280-8F76-4857ACC87F20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7879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Decoherence</a:t>
            </a: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 Rate Minimization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103047"/>
              </p:ext>
            </p:extLst>
          </p:nvPr>
        </p:nvGraphicFramePr>
        <p:xfrm>
          <a:off x="1261872" y="1788002"/>
          <a:ext cx="9283416" cy="3200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2616"/>
                <a:gridCol w="64008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>
                          <a:latin typeface="Arial" charset="0"/>
                          <a:ea typeface="Arial" charset="0"/>
                          <a:cs typeface="Arial" charset="0"/>
                        </a:rPr>
                        <a:t>Master </a:t>
                      </a:r>
                      <a:r>
                        <a:rPr lang="en-CA" sz="1800" dirty="0" smtClean="0">
                          <a:latin typeface="Arial" charset="0"/>
                          <a:ea typeface="Arial" charset="0"/>
                          <a:cs typeface="Arial" charset="0"/>
                        </a:rPr>
                        <a:t>Equation</a:t>
                      </a:r>
                      <a:endParaRPr lang="en-US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 err="1" smtClean="0">
                          <a:latin typeface="Arial" charset="0"/>
                          <a:ea typeface="Arial" charset="0"/>
                          <a:cs typeface="Arial" charset="0"/>
                        </a:rPr>
                        <a:t>Decoherence</a:t>
                      </a:r>
                      <a:r>
                        <a:rPr lang="en-CA" sz="1800" dirty="0" smtClean="0">
                          <a:latin typeface="Arial" charset="0"/>
                          <a:ea typeface="Arial" charset="0"/>
                          <a:cs typeface="Arial" charset="0"/>
                        </a:rPr>
                        <a:t> Rate</a:t>
                      </a:r>
                      <a:endParaRPr lang="en-US" dirty="0" smtClean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 smtClean="0">
                          <a:latin typeface="Arial" charset="0"/>
                          <a:ea typeface="Arial" charset="0"/>
                          <a:cs typeface="Arial" charset="0"/>
                        </a:rPr>
                        <a:t>Minimum </a:t>
                      </a:r>
                      <a:r>
                        <a:rPr lang="en-CA" sz="1800" dirty="0" err="1" smtClean="0">
                          <a:latin typeface="Arial" charset="0"/>
                          <a:ea typeface="Arial" charset="0"/>
                          <a:cs typeface="Arial" charset="0"/>
                        </a:rPr>
                        <a:t>Decoherence</a:t>
                      </a:r>
                      <a:r>
                        <a:rPr lang="en-CA" sz="1800" dirty="0" smtClean="0">
                          <a:latin typeface="Arial" charset="0"/>
                          <a:ea typeface="Arial" charset="0"/>
                          <a:cs typeface="Arial" charset="0"/>
                        </a:rPr>
                        <a:t> Rate (2 particle case)</a:t>
                      </a:r>
                      <a:endParaRPr lang="en-US" dirty="0" smtClean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 smtClean="0">
                          <a:latin typeface="Arial" charset="0"/>
                          <a:ea typeface="Arial" charset="0"/>
                          <a:cs typeface="Arial" charset="0"/>
                        </a:rPr>
                        <a:t>Minimum </a:t>
                      </a:r>
                      <a:r>
                        <a:rPr lang="en-CA" sz="1800" dirty="0" err="1" smtClean="0">
                          <a:latin typeface="Arial" charset="0"/>
                          <a:ea typeface="Arial" charset="0"/>
                          <a:cs typeface="Arial" charset="0"/>
                        </a:rPr>
                        <a:t>Decoherence</a:t>
                      </a:r>
                      <a:r>
                        <a:rPr lang="en-CA" sz="1800" dirty="0" smtClean="0">
                          <a:latin typeface="Arial" charset="0"/>
                          <a:ea typeface="Arial" charset="0"/>
                          <a:cs typeface="Arial" charset="0"/>
                        </a:rPr>
                        <a:t> Rate (multi-particle case)</a:t>
                      </a:r>
                      <a:endParaRPr lang="en-US" dirty="0" smtClean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 smtClean="0">
                          <a:latin typeface="Arial" charset="0"/>
                          <a:ea typeface="Arial" charset="0"/>
                          <a:cs typeface="Arial" charset="0"/>
                        </a:rPr>
                        <a:t>Maximum Visibility</a:t>
                      </a:r>
                      <a:endParaRPr lang="en-US" dirty="0" smtClean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0998" y="4562122"/>
            <a:ext cx="2217421" cy="402179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9" t="5842" r="-2169" b="7657"/>
          <a:stretch/>
        </p:blipFill>
        <p:spPr>
          <a:xfrm>
            <a:off x="5288988" y="3757925"/>
            <a:ext cx="1705578" cy="515063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7002" y="3129007"/>
            <a:ext cx="1651027" cy="532239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61" b="11543"/>
          <a:stretch/>
        </p:blipFill>
        <p:spPr>
          <a:xfrm>
            <a:off x="6104785" y="2476202"/>
            <a:ext cx="2661007" cy="51863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227" y="1871005"/>
            <a:ext cx="3974578" cy="54160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638419" y="3734870"/>
            <a:ext cx="32627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Arial" charset="0"/>
                <a:ea typeface="Arial" charset="0"/>
                <a:cs typeface="Arial" charset="0"/>
              </a:rPr>
              <a:t>C = 1.0 (Point Earth)</a:t>
            </a:r>
          </a:p>
          <a:p>
            <a:r>
              <a:rPr lang="en-US" sz="1600" dirty="0" smtClean="0">
                <a:latin typeface="Arial" charset="0"/>
                <a:ea typeface="Arial" charset="0"/>
                <a:cs typeface="Arial" charset="0"/>
              </a:rPr>
              <a:t>C = 0.47 (Composite Earth)</a:t>
            </a:r>
            <a:endParaRPr lang="en-US" sz="1600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05"/>
          <a:stretch/>
        </p:blipFill>
        <p:spPr>
          <a:xfrm>
            <a:off x="7638419" y="4370543"/>
            <a:ext cx="1826876" cy="5434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56335" y="5220521"/>
            <a:ext cx="30726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K → Measurement Strength</a:t>
            </a:r>
          </a:p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D → Feedback Strength</a:t>
            </a:r>
          </a:p>
          <a:p>
            <a:r>
              <a:rPr lang="en-US" dirty="0" err="1" smtClean="0">
                <a:latin typeface="Arial" charset="0"/>
                <a:ea typeface="Arial" charset="0"/>
                <a:cs typeface="Arial" charset="0"/>
              </a:rPr>
              <a:t>Δx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 → Superposition Size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64386" y="6457890"/>
            <a:ext cx="365514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Altamirano</a:t>
            </a:r>
            <a:r>
              <a:rPr lang="en-US" sz="10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, N., Corona-</a:t>
            </a:r>
            <a:r>
              <a:rPr lang="en-US" sz="1000" dirty="0" err="1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Ugalde</a:t>
            </a:r>
            <a:r>
              <a:rPr lang="en-US" sz="10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, P., Mann, R., &amp; </a:t>
            </a:r>
            <a:r>
              <a:rPr lang="en-US" sz="1000" dirty="0" err="1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Zych</a:t>
            </a:r>
            <a:r>
              <a:rPr lang="en-US" sz="10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, M. (2016). Gravity is not a Pairwise Local Classical Channel.</a:t>
            </a:r>
            <a:endParaRPr lang="en-US" sz="1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B265678-C360-4280-8F76-4857ACC87F20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6055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Comparing to 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Experiment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55"/>
          <a:stretch/>
        </p:blipFill>
        <p:spPr>
          <a:xfrm>
            <a:off x="2236755" y="1977012"/>
            <a:ext cx="6842893" cy="456482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964386" y="6457890"/>
            <a:ext cx="365514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Altamirano</a:t>
            </a:r>
            <a:r>
              <a:rPr lang="en-US" sz="10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, N., Corona-</a:t>
            </a:r>
            <a:r>
              <a:rPr lang="en-US" sz="1000" dirty="0" err="1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Ugalde</a:t>
            </a:r>
            <a:r>
              <a:rPr lang="en-US" sz="10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, P., Mann, R., &amp; </a:t>
            </a:r>
            <a:r>
              <a:rPr lang="en-US" sz="1000" dirty="0" err="1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Zych</a:t>
            </a:r>
            <a:r>
              <a:rPr lang="en-US" sz="10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, M. (2016). Gravity is not a Pairwise Local Classical Channel.</a:t>
            </a:r>
            <a:endParaRPr lang="en-US" sz="1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B265678-C360-4280-8F76-4857ACC87F20}" type="slidenum">
              <a:rPr lang="en-CA" smtClean="0"/>
              <a:t>6</a:t>
            </a:fld>
            <a:endParaRPr lang="en-CA"/>
          </a:p>
        </p:txBody>
      </p:sp>
      <p:sp>
        <p:nvSpPr>
          <p:cNvPr id="9" name="TextBox 8"/>
          <p:cNvSpPr txBox="1"/>
          <p:nvPr/>
        </p:nvSpPr>
        <p:spPr>
          <a:xfrm>
            <a:off x="8439672" y="2694526"/>
            <a:ext cx="1618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0016FF"/>
                </a:solidFill>
                <a:latin typeface="Arial" charset="0"/>
                <a:ea typeface="Arial" charset="0"/>
                <a:cs typeface="Arial" charset="0"/>
              </a:rPr>
              <a:t>Experiment</a:t>
            </a:r>
            <a:endParaRPr lang="en-US" sz="1600" b="1" dirty="0">
              <a:solidFill>
                <a:srgbClr val="0016FF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04045" y="3709620"/>
            <a:ext cx="28003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009946"/>
                </a:solidFill>
                <a:latin typeface="Arial" charset="0"/>
                <a:ea typeface="Arial" charset="0"/>
                <a:cs typeface="Arial" charset="0"/>
              </a:rPr>
              <a:t>Theory (Composite Earth)</a:t>
            </a:r>
            <a:endParaRPr lang="en-US" sz="1600" b="1" dirty="0">
              <a:solidFill>
                <a:srgbClr val="009946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39672" y="5611505"/>
            <a:ext cx="2386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E60000"/>
                </a:solidFill>
                <a:latin typeface="Arial" charset="0"/>
                <a:ea typeface="Arial" charset="0"/>
                <a:cs typeface="Arial" charset="0"/>
              </a:rPr>
              <a:t>Theory (</a:t>
            </a:r>
            <a:r>
              <a:rPr lang="en-US" sz="1600" b="1" smtClean="0">
                <a:solidFill>
                  <a:srgbClr val="E60000"/>
                </a:solidFill>
                <a:latin typeface="Arial" charset="0"/>
                <a:ea typeface="Arial" charset="0"/>
                <a:cs typeface="Arial" charset="0"/>
              </a:rPr>
              <a:t>Point Earth)</a:t>
            </a:r>
            <a:endParaRPr lang="en-US" sz="1600" b="1" dirty="0">
              <a:solidFill>
                <a:srgbClr val="E60000"/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6633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Heating Rate Minimization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504673"/>
              </p:ext>
            </p:extLst>
          </p:nvPr>
        </p:nvGraphicFramePr>
        <p:xfrm>
          <a:off x="1261872" y="1906755"/>
          <a:ext cx="9283416" cy="3840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2616"/>
                <a:gridCol w="64008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>
                          <a:latin typeface="Arial" charset="0"/>
                          <a:ea typeface="Arial" charset="0"/>
                          <a:cs typeface="Arial" charset="0"/>
                        </a:rPr>
                        <a:t>Master </a:t>
                      </a:r>
                      <a:r>
                        <a:rPr lang="en-CA" sz="1800" dirty="0" smtClean="0">
                          <a:latin typeface="Arial" charset="0"/>
                          <a:ea typeface="Arial" charset="0"/>
                          <a:cs typeface="Arial" charset="0"/>
                        </a:rPr>
                        <a:t>Equation</a:t>
                      </a:r>
                      <a:endParaRPr lang="en-US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/>
                      <a:endParaRPr lang="en-US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 smtClean="0">
                          <a:latin typeface="Arial" charset="0"/>
                          <a:ea typeface="Arial" charset="0"/>
                          <a:cs typeface="Arial" charset="0"/>
                        </a:rPr>
                        <a:t>Heating Rate</a:t>
                      </a:r>
                      <a:endParaRPr lang="en-US" dirty="0" smtClean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/>
                      <a:endParaRPr lang="en-US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 smtClean="0">
                          <a:latin typeface="Arial" charset="0"/>
                          <a:ea typeface="Arial" charset="0"/>
                          <a:cs typeface="Arial" charset="0"/>
                        </a:rPr>
                        <a:t>D</a:t>
                      </a:r>
                      <a:r>
                        <a:rPr lang="en-CA" sz="1800" baseline="-25000" dirty="0" smtClean="0">
                          <a:latin typeface="Arial" charset="0"/>
                          <a:ea typeface="Arial" charset="0"/>
                          <a:cs typeface="Arial" charset="0"/>
                        </a:rPr>
                        <a:t>1</a:t>
                      </a:r>
                      <a:r>
                        <a:rPr lang="en-CA" sz="1800" baseline="0" dirty="0" smtClean="0">
                          <a:latin typeface="Arial" charset="0"/>
                          <a:ea typeface="Arial" charset="0"/>
                          <a:cs typeface="Arial" charset="0"/>
                        </a:rPr>
                        <a:t> and D</a:t>
                      </a:r>
                      <a:r>
                        <a:rPr lang="en-CA" sz="1800" baseline="-25000" dirty="0" smtClean="0">
                          <a:latin typeface="Arial" charset="0"/>
                          <a:ea typeface="Arial" charset="0"/>
                          <a:cs typeface="Arial" charset="0"/>
                        </a:rPr>
                        <a:t>2</a:t>
                      </a:r>
                      <a:r>
                        <a:rPr lang="en-CA" sz="1800" baseline="0" dirty="0" smtClean="0">
                          <a:latin typeface="Arial" charset="0"/>
                          <a:ea typeface="Arial" charset="0"/>
                          <a:cs typeface="Arial" charset="0"/>
                        </a:rPr>
                        <a:t> at Minimum Heating Rate</a:t>
                      </a:r>
                      <a:endParaRPr lang="en-US" dirty="0" smtClean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/>
                      <a:endParaRPr lang="en-US" dirty="0" smtClean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 smtClean="0">
                          <a:latin typeface="Arial" charset="0"/>
                          <a:ea typeface="Arial" charset="0"/>
                          <a:cs typeface="Arial" charset="0"/>
                        </a:rPr>
                        <a:t>Master Equation at Minimum Heating</a:t>
                      </a:r>
                      <a:r>
                        <a:rPr lang="en-CA" sz="1800" baseline="0" dirty="0" smtClean="0">
                          <a:latin typeface="Arial" charset="0"/>
                          <a:ea typeface="Arial" charset="0"/>
                          <a:cs typeface="Arial" charset="0"/>
                        </a:rPr>
                        <a:t> Rate</a:t>
                      </a:r>
                      <a:endParaRPr lang="en-US" dirty="0" smtClean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/>
                      <a:endParaRPr lang="en-US" dirty="0" smtClean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Arial" charset="0"/>
                          <a:ea typeface="Arial" charset="0"/>
                          <a:cs typeface="Arial" charset="0"/>
                        </a:rPr>
                        <a:t>Equation of Motion of the Atom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/>
                      <a:endParaRPr lang="en-US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 smtClean="0">
                          <a:latin typeface="Arial" charset="0"/>
                          <a:ea typeface="Arial" charset="0"/>
                          <a:cs typeface="Arial" charset="0"/>
                        </a:rPr>
                        <a:t>Maximum Visibility</a:t>
                      </a:r>
                      <a:endParaRPr lang="en-US" dirty="0" smtClean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/>
                      <a:endParaRPr lang="en-US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0782" y="2006931"/>
            <a:ext cx="6062626" cy="47273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91" b="19217"/>
          <a:stretch/>
        </p:blipFill>
        <p:spPr>
          <a:xfrm>
            <a:off x="6317319" y="5207885"/>
            <a:ext cx="1938917" cy="39106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2544" y="4561670"/>
            <a:ext cx="3548872" cy="4726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2838" y="3858082"/>
            <a:ext cx="5708285" cy="52963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6450" y="3244553"/>
            <a:ext cx="1237527" cy="54702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3247" y="3244553"/>
            <a:ext cx="1188145" cy="54087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784" y="2594869"/>
            <a:ext cx="5862395" cy="55518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58864" y="5747235"/>
            <a:ext cx="30726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K → Measurement Strength</a:t>
            </a:r>
          </a:p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D → Feedback Strength</a:t>
            </a:r>
          </a:p>
          <a:p>
            <a:r>
              <a:rPr lang="en-US" dirty="0" err="1" smtClean="0">
                <a:latin typeface="Arial" charset="0"/>
                <a:ea typeface="Arial" charset="0"/>
                <a:cs typeface="Arial" charset="0"/>
              </a:rPr>
              <a:t>Δx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 → Superposition Size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B265678-C360-4280-8F76-4857ACC87F20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34861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Comparing to Experiment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38"/>
          <a:stretch/>
        </p:blipFill>
        <p:spPr>
          <a:xfrm>
            <a:off x="2296954" y="1977839"/>
            <a:ext cx="6933706" cy="4678281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B265678-C360-4280-8F76-4857ACC87F20}" type="slidenum">
              <a:rPr lang="en-CA" smtClean="0"/>
              <a:t>8</a:t>
            </a:fld>
            <a:endParaRPr lang="en-CA"/>
          </a:p>
        </p:txBody>
      </p:sp>
      <p:sp>
        <p:nvSpPr>
          <p:cNvPr id="9" name="TextBox 8"/>
          <p:cNvSpPr txBox="1"/>
          <p:nvPr/>
        </p:nvSpPr>
        <p:spPr>
          <a:xfrm>
            <a:off x="8567516" y="3046434"/>
            <a:ext cx="2386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E60000"/>
                </a:solidFill>
                <a:latin typeface="Arial" charset="0"/>
                <a:ea typeface="Arial" charset="0"/>
                <a:cs typeface="Arial" charset="0"/>
              </a:rPr>
              <a:t>Theory (</a:t>
            </a:r>
            <a:r>
              <a:rPr lang="en-US" sz="1600" b="1" smtClean="0">
                <a:solidFill>
                  <a:srgbClr val="E60000"/>
                </a:solidFill>
                <a:latin typeface="Arial" charset="0"/>
                <a:ea typeface="Arial" charset="0"/>
                <a:cs typeface="Arial" charset="0"/>
              </a:rPr>
              <a:t>Point Earth)</a:t>
            </a:r>
            <a:endParaRPr lang="en-US" sz="1600" b="1" dirty="0">
              <a:solidFill>
                <a:srgbClr val="E60000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67516" y="5615856"/>
            <a:ext cx="1618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0016FF"/>
                </a:solidFill>
                <a:latin typeface="Arial" charset="0"/>
                <a:ea typeface="Arial" charset="0"/>
                <a:cs typeface="Arial" charset="0"/>
              </a:rPr>
              <a:t>Experiment</a:t>
            </a:r>
            <a:endParaRPr lang="en-US" sz="1600" b="1" dirty="0">
              <a:solidFill>
                <a:srgbClr val="0016FF"/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198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Concluding Remarks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1828800"/>
            <a:ext cx="9497172" cy="1935677"/>
          </a:xfrm>
        </p:spPr>
        <p:txBody>
          <a:bodyPr>
            <a:normAutofit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CA" sz="20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Only considering </a:t>
            </a:r>
            <a:r>
              <a:rPr lang="en-CA" sz="2000" dirty="0" err="1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decoherence</a:t>
            </a:r>
            <a:r>
              <a:rPr lang="en-CA" sz="20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20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rate, </a:t>
            </a:r>
            <a:r>
              <a:rPr lang="en-CA" sz="20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gravity </a:t>
            </a:r>
            <a:r>
              <a:rPr lang="en-CA" sz="20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not classical under this model</a:t>
            </a:r>
            <a:endParaRPr lang="en-CA" sz="2000" dirty="0" smtClean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CA" sz="20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Considering heating rate </a:t>
            </a:r>
            <a:r>
              <a:rPr lang="en-CA" sz="20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too, </a:t>
            </a:r>
            <a:r>
              <a:rPr lang="en-CA" sz="20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gravity </a:t>
            </a:r>
            <a:r>
              <a:rPr lang="en-CA" sz="20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may be classical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CA" sz="20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CA" sz="20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Next step is the global </a:t>
            </a:r>
            <a:r>
              <a:rPr lang="en-CA" sz="20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 </a:t>
            </a:r>
            <a:r>
              <a:rPr lang="en-CA" sz="20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CA" sz="20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CA" sz="20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2000" dirty="0" err="1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ancilla</a:t>
            </a:r>
            <a:r>
              <a:rPr lang="en-CA" sz="20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per particle)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lang="en-CA" sz="2000" dirty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261872" y="4222588"/>
            <a:ext cx="8595360" cy="12944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CA" sz="20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Natacha </a:t>
            </a:r>
            <a:r>
              <a:rPr lang="en-CA" sz="2000" dirty="0" err="1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Altamirano</a:t>
            </a:r>
            <a:endParaRPr lang="en-CA" sz="2000" dirty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CA" sz="20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Robert Mann</a:t>
            </a:r>
            <a:endParaRPr lang="en-CA" sz="2000" dirty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261872" y="2796638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mtClean="0">
                <a:latin typeface="Arial" panose="020B0604020202020204" pitchFamily="34" charset="0"/>
                <a:cs typeface="Arial" panose="020B0604020202020204" pitchFamily="34" charset="0"/>
              </a:rPr>
              <a:t>Acknowledgements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B265678-C360-4280-8F76-4857ACC87F20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9507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Classical Channel Check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1828800"/>
            <a:ext cx="9692640" cy="4351337"/>
          </a:xfrm>
        </p:spPr>
        <p:txBody>
          <a:bodyPr/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CA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Entanglement never increases if the matrix                   has no negative eigenvalues where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lang="en-CA" dirty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lang="en-CA" dirty="0" smtClean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lang="en-CA" dirty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lang="en-CA" dirty="0" smtClean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lang="en-CA" dirty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lang="en-CA" dirty="0" smtClean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lang="en-CA" dirty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lang="en-CA" dirty="0" smtClean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lang="en-CA" dirty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lang="en-CA" dirty="0" smtClean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lang="en-CA" dirty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lang="en-CA" dirty="0" smtClean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CA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                   has eigenvalues of 0 and 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lang="en-CA" dirty="0" smtClean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3192" y="5363177"/>
            <a:ext cx="1270000" cy="482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498" y="4316519"/>
            <a:ext cx="2873314" cy="80140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8083" y="4293783"/>
            <a:ext cx="2377373" cy="8468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286" y="4465736"/>
            <a:ext cx="656940" cy="50297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53" y="2314742"/>
            <a:ext cx="4784219" cy="77757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3871" y="2328877"/>
            <a:ext cx="1562100" cy="7493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3472" y="1852628"/>
            <a:ext cx="1079500" cy="381000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1261872" y="3268430"/>
            <a:ext cx="9692640" cy="9160"/>
          </a:xfrm>
          <a:prstGeom prst="line">
            <a:avLst/>
          </a:prstGeom>
          <a:ln w="63500" cmpd="dbl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7623" y="3453707"/>
            <a:ext cx="6874508" cy="57977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437" y="5413977"/>
            <a:ext cx="1079500" cy="381000"/>
          </a:xfrm>
          <a:prstGeom prst="rect">
            <a:avLst/>
          </a:prstGeom>
        </p:spPr>
      </p:pic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B265678-C360-4280-8F76-4857ACC87F20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12107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6107</TotalTime>
  <Words>397</Words>
  <Application>Microsoft Macintosh PowerPoint</Application>
  <PresentationFormat>Widescreen</PresentationFormat>
  <Paragraphs>100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Century Schoolbook</vt:lpstr>
      <vt:lpstr>Wingdings 2</vt:lpstr>
      <vt:lpstr>Arial</vt:lpstr>
      <vt:lpstr>View</vt:lpstr>
      <vt:lpstr>Can Gravity be a Pairwise Local Classical Channel?</vt:lpstr>
      <vt:lpstr>Pairwise</vt:lpstr>
      <vt:lpstr>Classical Channel</vt:lpstr>
      <vt:lpstr>Comparing Theory to Experiment</vt:lpstr>
      <vt:lpstr>Decoherence Rate Minimization</vt:lpstr>
      <vt:lpstr>Comparing to Experiment</vt:lpstr>
      <vt:lpstr>Heating Rate Minimization</vt:lpstr>
      <vt:lpstr>Comparing to Experiment</vt:lpstr>
      <vt:lpstr>Concluding Remarks</vt:lpstr>
      <vt:lpstr>Classical Channel Check</vt:lpstr>
    </vt:vector>
  </TitlesOfParts>
  <LinksUpToDate>false</LinksUpToDate>
  <SharedDoc>false</SharedDoc>
  <HyperlinksChanged>false</HyperlinksChanged>
  <AppVersion>15.0029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of the Alpha-N Study for the Water Phase</dc:title>
  <dc:creator>Jamie Breault</dc:creator>
  <cp:lastModifiedBy>Jamie Germain Breault</cp:lastModifiedBy>
  <cp:revision>120</cp:revision>
  <dcterms:created xsi:type="dcterms:W3CDTF">2016-03-13T03:40:33Z</dcterms:created>
  <dcterms:modified xsi:type="dcterms:W3CDTF">2018-01-04T21:01:28Z</dcterms:modified>
</cp:coreProperties>
</file>