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8e4f542c247c2" /><Relationship Type="http://schemas.openxmlformats.org/officeDocument/2006/relationships/extended-properties" Target="/docProps/app.xml" Id="R6e72b10c8c0f4bd3" /><Relationship Type="http://schemas.openxmlformats.org/officeDocument/2006/relationships/officeDocument" Target="/ppt/presentation.xml" Id="Rf02bbeb99efd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d4c50c79714b7c"/>
  </p:sldMasterIdLst>
  <p:notesMasterIdLst>
    <p:notesMasterId xmlns:r="http://schemas.openxmlformats.org/officeDocument/2006/relationships" r:id="Re4ef2bd4c61a455c"/>
  </p:notesMasterIdLst>
  <p:sldIdLst>
    <p:sldId xmlns:r="http://schemas.openxmlformats.org/officeDocument/2006/relationships" id="256" r:id="R6f7015a0c89a40dc"/>
    <p:sldId xmlns:r="http://schemas.openxmlformats.org/officeDocument/2006/relationships" id="257" r:id="Rf4498362350847c0"/>
    <p:sldId xmlns:r="http://schemas.openxmlformats.org/officeDocument/2006/relationships" id="258" r:id="Rff287ad764504b31"/>
    <p:sldId xmlns:r="http://schemas.openxmlformats.org/officeDocument/2006/relationships" id="259" r:id="Re20a6eb01bfc4314"/>
    <p:sldId xmlns:r="http://schemas.openxmlformats.org/officeDocument/2006/relationships" id="260" r:id="Rb37fbc1c788b47e8"/>
    <p:sldId xmlns:r="http://schemas.openxmlformats.org/officeDocument/2006/relationships" id="261" r:id="R36809067f5ae41ae"/>
    <p:sldId xmlns:r="http://schemas.openxmlformats.org/officeDocument/2006/relationships" id="262" r:id="Rc1ffebb53d27410f"/>
    <p:sldId xmlns:r="http://schemas.openxmlformats.org/officeDocument/2006/relationships" id="263" r:id="R401c5048238b4290"/>
    <p:sldId xmlns:r="http://schemas.openxmlformats.org/officeDocument/2006/relationships" id="264" r:id="R55ecdcb06c9245a9"/>
    <p:sldId xmlns:r="http://schemas.openxmlformats.org/officeDocument/2006/relationships" id="265" r:id="R512d13ebc2604618"/>
    <p:sldId xmlns:r="http://schemas.openxmlformats.org/officeDocument/2006/relationships" id="266" r:id="Rbff2cef8d7ec433b"/>
    <p:sldId xmlns:r="http://schemas.openxmlformats.org/officeDocument/2006/relationships" id="267" r:id="Rac544b74724f4c8d"/>
    <p:sldId xmlns:r="http://schemas.openxmlformats.org/officeDocument/2006/relationships" id="268" r:id="Rf7c4c2d89f6e4314"/>
    <p:sldId xmlns:r="http://schemas.openxmlformats.org/officeDocument/2006/relationships" id="269" r:id="Rbf01e624971a45b1"/>
    <p:sldId xmlns:r="http://schemas.openxmlformats.org/officeDocument/2006/relationships" id="270" r:id="R3e6bc6daa1a040fc"/>
    <p:sldId xmlns:r="http://schemas.openxmlformats.org/officeDocument/2006/relationships" id="271" r:id="R22c661e3512a43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4c50c79714b7c" /><Relationship Type="http://schemas.openxmlformats.org/officeDocument/2006/relationships/theme" Target="/ppt/theme/theme1.xml" Id="Racae8270cbe64ec1" /><Relationship Type="http://schemas.openxmlformats.org/officeDocument/2006/relationships/notesMaster" Target="/ppt/notesMasters/notesMaster1.xml" Id="Re4ef2bd4c61a455c" /><Relationship Type="http://schemas.openxmlformats.org/officeDocument/2006/relationships/presProps" Target="/ppt/presProps.xml" Id="Rcb93abe431244321" /><Relationship Type="http://schemas.openxmlformats.org/officeDocument/2006/relationships/viewProps" Target="/ppt/viewProps.xml" Id="R585179972a4845ad" /><Relationship Type="http://schemas.openxmlformats.org/officeDocument/2006/relationships/tableStyles" Target="/ppt/tableStyles.xml" Id="R2600a659857242c7" /><Relationship Type="http://schemas.openxmlformats.org/officeDocument/2006/relationships/slide" Target="/ppt/slides/slide1.xml" Id="R6f7015a0c89a40dc" /><Relationship Type="http://schemas.openxmlformats.org/officeDocument/2006/relationships/slide" Target="/ppt/slides/slide2.xml" Id="Rf4498362350847c0" /><Relationship Type="http://schemas.openxmlformats.org/officeDocument/2006/relationships/slide" Target="/ppt/slides/slide3.xml" Id="Rff287ad764504b31" /><Relationship Type="http://schemas.openxmlformats.org/officeDocument/2006/relationships/slide" Target="/ppt/slides/slide4.xml" Id="Re20a6eb01bfc4314" /><Relationship Type="http://schemas.openxmlformats.org/officeDocument/2006/relationships/slide" Target="/ppt/slides/slide5.xml" Id="Rb37fbc1c788b47e8" /><Relationship Type="http://schemas.openxmlformats.org/officeDocument/2006/relationships/slide" Target="/ppt/slides/slide6.xml" Id="R36809067f5ae41ae" /><Relationship Type="http://schemas.openxmlformats.org/officeDocument/2006/relationships/slide" Target="/ppt/slides/slide7.xml" Id="Rc1ffebb53d27410f" /><Relationship Type="http://schemas.openxmlformats.org/officeDocument/2006/relationships/slide" Target="/ppt/slides/slide8.xml" Id="R401c5048238b4290" /><Relationship Type="http://schemas.openxmlformats.org/officeDocument/2006/relationships/slide" Target="/ppt/slides/slide9.xml" Id="R55ecdcb06c9245a9" /><Relationship Type="http://schemas.openxmlformats.org/officeDocument/2006/relationships/slide" Target="/ppt/slides/slide10.xml" Id="R512d13ebc2604618" /><Relationship Type="http://schemas.openxmlformats.org/officeDocument/2006/relationships/slide" Target="/ppt/slides/slide11.xml" Id="Rbff2cef8d7ec433b" /><Relationship Type="http://schemas.openxmlformats.org/officeDocument/2006/relationships/slide" Target="/ppt/slides/slide12.xml" Id="Rac544b74724f4c8d" /><Relationship Type="http://schemas.openxmlformats.org/officeDocument/2006/relationships/slide" Target="/ppt/slides/slide13.xml" Id="Rf7c4c2d89f6e4314" /><Relationship Type="http://schemas.openxmlformats.org/officeDocument/2006/relationships/slide" Target="/ppt/slides/slide14.xml" Id="Rbf01e624971a45b1" /><Relationship Type="http://schemas.openxmlformats.org/officeDocument/2006/relationships/slide" Target="/ppt/slides/slide15.xml" Id="R3e6bc6daa1a040fc" /><Relationship Type="http://schemas.openxmlformats.org/officeDocument/2006/relationships/slide" Target="/ppt/slides/slide16.xml" Id="R22c661e3512a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4653794306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9a2558a392424e" /><Relationship Type="http://schemas.openxmlformats.org/officeDocument/2006/relationships/notesMaster" Target="/ppt/notesMasters/notesMaster1.xml" Id="Rba034133a40746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d827455b1478c" /><Relationship Type="http://schemas.openxmlformats.org/officeDocument/2006/relationships/notesMaster" Target="/ppt/notesMasters/notesMaster1.xml" Id="R477bbce9dfba46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5a234eb66248dc" /><Relationship Type="http://schemas.openxmlformats.org/officeDocument/2006/relationships/notesMaster" Target="/ppt/notesMasters/notesMaster1.xml" Id="Rb3f57b633daf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847b12198439f" /><Relationship Type="http://schemas.openxmlformats.org/officeDocument/2006/relationships/notesMaster" Target="/ppt/notesMasters/notesMaster1.xml" Id="Rf2fa42a953d841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d69d5fe6e4707" /><Relationship Type="http://schemas.openxmlformats.org/officeDocument/2006/relationships/notesMaster" Target="/ppt/notesMasters/notesMaster1.xml" Id="R2eb817b41c3442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358111dd794995" /><Relationship Type="http://schemas.openxmlformats.org/officeDocument/2006/relationships/notesMaster" Target="/ppt/notesMasters/notesMaster1.xml" Id="R8e157f57068b4d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a031a210c4760" /><Relationship Type="http://schemas.openxmlformats.org/officeDocument/2006/relationships/notesMaster" Target="/ppt/notesMasters/notesMaster1.xml" Id="Ra9c53e44e740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40b2d0e7c34acf" /><Relationship Type="http://schemas.openxmlformats.org/officeDocument/2006/relationships/notesMaster" Target="/ppt/notesMasters/notesMaster1.xml" Id="R2f3b881c682244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7f68a1bf34074" /><Relationship Type="http://schemas.openxmlformats.org/officeDocument/2006/relationships/notesMaster" Target="/ppt/notesMasters/notesMaster1.xml" Id="Rf5b6be4355bf4a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f6d999f28e44bb" /><Relationship Type="http://schemas.openxmlformats.org/officeDocument/2006/relationships/notesMaster" Target="/ppt/notesMasters/notesMaster1.xml" Id="Rcf288e1eb178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a53ce45afc47ac" /><Relationship Type="http://schemas.openxmlformats.org/officeDocument/2006/relationships/notesMaster" Target="/ppt/notesMasters/notesMaster1.xml" Id="Rd40d6f9963e64e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d4f6b4df3044d7" /><Relationship Type="http://schemas.openxmlformats.org/officeDocument/2006/relationships/notesMaster" Target="/ppt/notesMasters/notesMaster1.xml" Id="R85340489f2fb42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31349889214d3f" /><Relationship Type="http://schemas.openxmlformats.org/officeDocument/2006/relationships/notesMaster" Target="/ppt/notesMasters/notesMaster1.xml" Id="Rb9187db5f3f44f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9f25a4cbfa49ee" /><Relationship Type="http://schemas.openxmlformats.org/officeDocument/2006/relationships/notesMaster" Target="/ppt/notesMasters/notesMaster1.xml" Id="R745589b6b1b841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bb27c5fb66428b" /><Relationship Type="http://schemas.openxmlformats.org/officeDocument/2006/relationships/notesMaster" Target="/ppt/notesMasters/notesMaster1.xml" Id="R0f5ce08f36014b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f2e7bf075d49e9" /><Relationship Type="http://schemas.openxmlformats.org/officeDocument/2006/relationships/notesMaster" Target="/ppt/notesMasters/notesMaster1.xml" Id="R1580733ec515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Open with the simple product question: can a laneway-family home fit on this parcel?</a:t>
            </a:r>
          </a:p>
          <a:p xmlns:a="http://schemas.openxmlformats.org/drawingml/2006/main">
            <a:r>
              <a:t>      Explain that Week 3 is about trust: official PDFs are read, rules are verified against exact sentences, and GIS work prepares the map side for future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Yusen: PDF-backed verification layer and verified-rule outputs.</a:t>
            </a:r>
          </a:p>
          <a:p xmlns:a="http://schemas.openxmlformats.org/drawingml/2006/main">
            <a:r>
              <a:t>      Jamie: GIS parcel/map preparation.</a:t>
            </a:r>
          </a:p>
          <a:p xmlns:a="http://schemas.openxmlformats.org/drawingml/2006/main">
            <a:r>
              <a:t>      Sasivimol and Zihao: rule extraction and candidate-rule work.</a:t>
            </a:r>
          </a:p>
          <a:p xmlns:a="http://schemas.openxmlformats.org/drawingml/2006/main">
            <a:r>
              <a:t>      Team blocker reports: architecture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Keep this slide non-technical. The audience should understand that the project is scoped to one family of homes, even though cities use different names for it.</a:t>
            </a:r>
          </a:p>
          <a:p xmlns:a="http://schemas.openxmlformats.org/drawingml/2006/main">
            <a:r>
              <a:t>      The map is a preview of the kind of parcel context the final product should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Burnaby GIS layers and map preview.</a:t>
            </a:r>
          </a:p>
          <a:p xmlns:a="http://schemas.openxmlformats.org/drawingml/2006/main">
            <a:r>
              <a:t>      Yusen: laneway-family scope terms in the PDF manifest and verification pipeline.</a:t>
            </a:r>
          </a:p>
          <a:p xmlns:a="http://schemas.openxmlformats.org/drawingml/2006/main">
            <a:r>
              <a:t>      Team discussion: decision to keep the scope focused on laneway-family homes.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This is the main message of the presentation. Finding a PDF is not enough. Even page-level matching is not enough for our core verification layer.</a:t>
            </a:r>
          </a:p>
          <a:p xmlns:a="http://schemas.openxmlformats.org/drawingml/2006/main">
            <a:r>
              <a:t>      A usable zoning rule needs the exact sentence or table row that proves the same value, condition, and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Yusen: sentence-level verification design and registry/review split.</a:t>
            </a:r>
          </a:p>
          <a:p xmlns:a="http://schemas.openxmlformats.org/drawingml/2006/main">
            <a:r>
              <a:t>      May 21 blocker report: extraction should create candidates, while source matching and verification decide whether a rule can be trusted.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Jamie's work is the GIS layer. Explain that zoning rules are not useful on a map until the system knows which parcel boundary is front, side, rear, or lane.</a:t>
            </a:r>
          </a:p>
          <a:p xmlns:a="http://schemas.openxmlformats.org/drawingml/2006/main">
            <a:r>
              <a:t>      The structure is: load parcel and street/lane/zoning data, simplify geometry, then label boundaries for setback calculations.</a:t>
            </a:r>
          </a:p>
          <a:p xmlns:a="http://schemas.openxmlformats.org/drawingml/2006/main">
            <a:r>
              <a:t>      After this summary, Jamie should walk through the two algorithm slides: first the simpler four-sided parcel approach, then the robust any-shape approach.</a:t>
            </a:r>
          </a:p>
          <a:p xmlns:a="http://schemas.openxmlformats.org/drawingml/2006/main">
            <a:r>
              <a:t>      One important result is the 0.1 m Douglas-Peucker tolerance, which makes 85.9% of Burnaby R1 parcels near-4-sided candidates for a first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code/gis_files/burnaby, buildable_area.qgz, douglas_peuker_*.gpkg, buildable_area_algorithms.pdf, br_2026-05-21.pdf, personal-logs/jamie/week3.txt.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Jamie should explain this as the simpler algorithm. It works when the parcel can be reduced to four clear boundary lines.</a:t>
            </a:r>
          </a:p>
          <a:p xmlns:a="http://schemas.openxmlformats.org/drawingml/2006/main">
            <a:r>
              <a:t>      The core idea is: closest line to the street is FRONT, the two lines touching it are SIDE, and the remaining line is REAR.</a:t>
            </a:r>
          </a:p>
          <a:p xmlns:a="http://schemas.openxmlformats.org/drawingml/2006/main">
            <a:r>
              <a:t>      The benefit is implementation speed and good early coverage. The tradeoff is that irregular parcels are excluded or approximated.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buildable_area_algorithms.pdf, Burnaby GIS work, Douglas-Peucker tolerance outputs, and May 21 GIS blocker.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Jamie should explain this as the robust algorithm. It tries to classify every boundary line, even for parcels that are not simple four-sided shapes.</a:t>
            </a:r>
          </a:p>
          <a:p xmlns:a="http://schemas.openxmlformats.org/drawingml/2006/main">
            <a:r>
              <a:t>      The important idea is the bee-line test: if a boundary line points clearly toward the street and is unobstructed, it is front; if it is obstructed by the same parcel, it is rear; otherwise it is side.</a:t>
            </a:r>
          </a:p>
          <a:p xmlns:a="http://schemas.openxmlformats.org/drawingml/2006/main">
            <a:r>
              <a:t>      The tradeoff is complexity. This may be better long-term, but it is harder to implement than the four-sided approach.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buildable_area_algorithms.pdf and GIS boundary-labelling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Explain why this matters: zoning setbacks depend on knowing which parcel edge is front, side, rear, or lane.</a:t>
            </a:r>
          </a:p>
          <a:p xmlns:a="http://schemas.openxmlformats.org/drawingml/2006/main">
            <a:r>
              <a:t>      Jamie's blocker shows that a simple first milestone can cover many Burnaby R1 parcels, but irregular lots still need to be flagged.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Burnaby GIS layers, Douglas-Peucker outputs, buildable_area_algorithms report, rough GIS notes, and May 21 blocker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Sasivimol's work is the repeatable setup for extraction. The key idea is configuration: city configs, PDF configs, and rule configs.</a:t>
            </a:r>
          </a:p>
          <a:p xmlns:a="http://schemas.openxmlformats.org/drawingml/2006/main">
            <a:r>
              <a:t>      This matters because each city writes bylaws differently. A scalable project cannot rely on one hand-built parser for one document.</a:t>
            </a:r>
          </a:p>
          <a:p xmlns:a="http://schemas.openxmlformats.org/drawingml/2006/main">
            <a:r>
              <a:t>      Her work also introduces ground-truth thinking, which is important for measuring whether extraction is actually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Sasivimol: origin/sasivimol laneway_v2.ipynb, capstone_journey.md, city/PDF/rule config work, personal-logs/sasivimol/week3_sasivimol.md.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Zihao's work is the broad candidate extraction track. It tries to find possible structured rules from many pages and city formats.</a:t>
            </a:r>
          </a:p>
          <a:p xmlns:a="http://schemas.openxmlformats.org/drawingml/2006/main">
            <a:r>
              <a:t>      The result is useful because it can cover more material than manual extraction, but the warnings are just as important: LLM output can be incomplete or ungrounded.</a:t>
            </a:r>
          </a:p>
          <a:p xmlns:a="http://schemas.openxmlformats.org/drawingml/2006/main">
            <a:r>
              <a:t>      This connects directly to Yusen's verification layer, which decides whether a candidate rule is trustworthy enough to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Zihao: origin/rule_extraction_test_zihao notebooks 00-19, extraction outputs, source coverage inventory, personal-logs/zihao/week3_zihao.md.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Yusen's work is the verification layer. The most important point is source matching at sentence level, not just document level.</a:t>
            </a:r>
          </a:p>
          <a:p xmlns:a="http://schemas.openxmlformats.org/drawingml/2006/main">
            <a:r>
              <a:t>      The structure is official PDF URL to pages, pages to sentences, sentences to candidate rules, and candidates to either verified registry or review queue.</a:t>
            </a:r>
          </a:p>
          <a:p xmlns:a="http://schemas.openxmlformats.org/drawingml/2006/main">
            <a:r>
              <a:t>      This makes the downstream deterministic rule engine safer because it only consumes rules with direct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Yusen: code/zoning_prototype/src/zoning_prototype/pdf_ingestion.py, pdf_sentence_verification.py, sentence_verification.py, outputs/pdf_sentence_verification, personal-logs/yusen/week3_yusen.txt.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This slide now belongs directly with Yusen's verification section.</a:t>
            </a:r>
          </a:p>
          <a:p xmlns:a="http://schemas.openxmlformats.org/drawingml/2006/main">
            <a:r>
              <a:t>      Walk through the pipeline slowly. The important thing is that the active source is official PDF text, not the workbook or hand-made JSON chunks.</a:t>
            </a:r>
          </a:p>
          <a:p xmlns:a="http://schemas.openxmlformats.org/drawingml/2006/main">
            <a:r>
              <a:t>      The final split is intentional: clear evidence goes into the trusted registry, unclear cases go into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Yusen: pdf_ingestion.py, pdf_sentence_verification.py, sentence_verification.py, and output files.</a:t>
            </a:r>
          </a:p>
          <a:p xmlns:a="http://schemas.openxmlformats.org/drawingml/2006/main">
            <a:r>
              <a:t>      Zihao and Sasivimol: upstream candidate-extraction work that can feed this verification layer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Present these numbers as early verification results, not final coverage. The strongest point is that the system is conservative.</a:t>
            </a:r>
          </a:p>
          <a:p xmlns:a="http://schemas.openxmlformats.org/drawingml/2006/main">
            <a:r>
              <a:t>      It verified 56 Surrey rules, kept 25 cases for review, and did not force Burnaby into the registry when the laneway-family wording was not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Yusen: verification_summary.md, pdf_pages.json, source_sentences.json, candidate_rules.json, verified_rule_registry.json, and review_queue.json.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This slide is the formal time-log summary. The total is 146 hours for Week 3.</a:t>
            </a:r>
          </a:p>
          <a:p xmlns:a="http://schemas.openxmlformats.org/drawingml/2006/main">
            <a:r>
              <a:t>      Emphasize that the hours were not reconstructed from memory; they come from personal-log entries.</a:t>
            </a:r>
          </a:p>
          <a:p xmlns:a="http://schemas.openxmlformats.org/drawingml/2006/main">
            <a:r>
              <a:t>      The distribution shows that the team spent most time on the hard technical pieces: GIS boundary logic, scalable rule extraction, and verified source matching.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personal-logs/jamie/week3.txt, total 34h.</a:t>
            </a:r>
          </a:p>
          <a:p xmlns:a="http://schemas.openxmlformats.org/drawingml/2006/main">
            <a:r>
              <a:t>      Sasivimol: personal-logs/sasivimol/week3_sasivimol.md, total 37h.</a:t>
            </a:r>
          </a:p>
          <a:p xmlns:a="http://schemas.openxmlformats.org/drawingml/2006/main">
            <a:r>
              <a:t>      Zihao: personal-logs/zihao/week3_zihao.md, total 35h.</a:t>
            </a:r>
          </a:p>
          <a:p xmlns:a="http://schemas.openxmlformats.org/drawingml/2006/main">
            <a:r>
              <a:t>      Yusen: personal-logs/yusen/week3_yusen.txt, total 40h.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This slide explains the difference in approach constructively. Candidate extraction is useful because it creates coverage. Verification is needed because it creates trust.</a:t>
            </a:r>
          </a:p>
          <a:p xmlns:a="http://schemas.openxmlformats.org/drawingml/2006/main">
            <a:r>
              <a:t>      The map side should come after trusted rules, not before.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Sasivimol: city config, parser workflow, prompt design, and ground-truth scoring.</a:t>
            </a:r>
          </a:p>
          <a:p xmlns:a="http://schemas.openxmlformats.org/drawingml/2006/main">
            <a:r>
              <a:t>      Zihao: generalized multi-city block extraction and source coverage checks.</a:t>
            </a:r>
          </a:p>
          <a:p xmlns:a="http://schemas.openxmlformats.org/drawingml/2006/main">
            <a:r>
              <a:t>      Yusen: verification gate and registry/review queue.</a:t>
            </a:r>
          </a:p>
          <a:p xmlns:a="http://schemas.openxmlformats.org/drawingml/2006/main">
            <a:r>
              <a:t>      Jamie: GIS layer that can later consume trusted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These are not final next-week commitments. They are decisions the team needs to avoid building in different directions.</a:t>
            </a:r>
          </a:p>
          <a:p xmlns:a="http://schemas.openxmlformats.org/drawingml/2006/main">
            <a:r>
              <a:t>      May 20 says RAG should help with lookup, source matching, and explanation, while GIS/rule logic calculates the envelope. May 21 says LLM rules must be verified before entering the registry.</a:t>
            </a:r>
          </a:p>
          <a:p xmlns:a="http://schemas.openxmlformats.org/drawingml/2006/main">
            <a:r>
              <a:t>      The May 25 blocker adds the current technical priority: source ingestion is no longer the main blocker. The difficult part is table-aware PDF extraction and modeling conditional language.</a:t>
            </a:r>
          </a:p>
          <a:p xmlns:a="http://schemas.openxmlformats.org/drawingml/2006/main">
            <a:r>
              <a:t>      The May 25 evidence was: 81 candidate rules checked, 56 verified, 12 possible sentence matches, 13 needing human review, 0 missing sentence evidence, and 0 PDF ingestion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May 20 blocker report: RAG, Felt, and GIS architecture boundary.</a:t>
            </a:r>
          </a:p>
          <a:p xmlns:a="http://schemas.openxmlformats.org/drawingml/2006/main">
            <a:r>
              <a:t>      May 21 blocker report: Jamie's GIS parcel-scope blocker and the extraction-versus-verification blocker from the rule work.</a:t>
            </a:r>
          </a:p>
          <a:p xmlns:a="http://schemas.openxmlformats.org/drawingml/2006/main">
            <a:r>
              <a:t>      May 25 blocker report: code/zoning_prototype/BLOCKER_REPORT.md on table-aware extraction and condition modeling.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</a:t>
            </a:r>
          </a:p>
          <a:p xmlns:a="http://schemas.openxmlformats.org/drawingml/2006/main">
            <a:r>
              <a:t>      Close by showing the product direction, project tracking, and client communication.</a:t>
            </a:r>
          </a:p>
          <a:p xmlns:a="http://schemas.openxmlformats.org/drawingml/2006/main">
            <a:r>
              <a:t>      The map and answer panel are a concept for how the verified-rule and GIS work could eventually meet.</a:t>
            </a:r>
          </a:p>
          <a:p xmlns:a="http://schemas.openxmlformats.org/drawingml/2006/main">
            <a:r>
              <a:t>      For client communication: the team was supposed to meet with Andy to discuss a potential RAG application, but he was unavailable because of an accident-related injury. The meeting is rescheduled for May 27 morning.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Work owner/source:</a:t>
            </a:r>
          </a:p>
          <a:p xmlns:a="http://schemas.openxmlformats.org/drawingml/2006/main">
            <a:r>
              <a:t>      Jamie: Burnaby GIS map layers used in the preview.</a:t>
            </a:r>
          </a:p>
          <a:p xmlns:a="http://schemas.openxmlformats.org/drawingml/2006/main">
            <a:r>
              <a:t>      Yusen: verification output fields such as source URL, page number, and evidence sentence.</a:t>
            </a:r>
          </a:p>
          <a:p xmlns:a="http://schemas.openxmlformats.org/drawingml/2006/main">
            <a:r>
              <a:t>      May 20 blocker report: Felt dashboard and RAG explanation direction.</a:t>
            </a:r>
          </a:p>
          <a:p xmlns:a="http://schemas.openxmlformats.org/drawingml/2006/main">
            <a:r>
              <a:t>      Team/client communication: planned Andy RAG discussion rescheduled to May 27 morning.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0f8b65dd741f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5536ee23fa4733" /><Relationship Type="http://schemas.openxmlformats.org/officeDocument/2006/relationships/slideLayout" Target="/ppt/slideLayouts/slideLayout2.xml" Id="Ree117c2a9cd64a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17c2a9cd64a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46e9f0b444e6d" /><Relationship Type="http://schemas.openxmlformats.org/officeDocument/2006/relationships/image" Target="/ppt/media/image.png" Id="R8d493de513434017" /><Relationship Type="http://schemas.openxmlformats.org/officeDocument/2006/relationships/notesSlide" Target="/ppt/notesSlides/notesSlide1.xml" Id="R301d3b80dcfa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d5a5776ae044a6" /><Relationship Type="http://schemas.openxmlformats.org/officeDocument/2006/relationships/image" Target="/ppt/media/image2.png" Id="Re0015dc22b3f4ab7" /><Relationship Type="http://schemas.openxmlformats.org/officeDocument/2006/relationships/notesSlide" Target="/ppt/notesSlides/notesSlide2.xml" Id="R80d7eb0386f0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83e8c3ee94140" /><Relationship Type="http://schemas.openxmlformats.org/officeDocument/2006/relationships/notesSlide" Target="/ppt/notesSlides/notesSlide3.xml" Id="R0fca5bd408a24b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036e87e57e4d44" /><Relationship Type="http://schemas.openxmlformats.org/officeDocument/2006/relationships/notesSlide" Target="/ppt/notesSlides/notesSlide4.xml" Id="R18911b8e5f00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8b5e9996d5406a" /><Relationship Type="http://schemas.openxmlformats.org/officeDocument/2006/relationships/image" Target="/ppt/media/image3.png" Id="R9d94f02fcb5645db" /><Relationship Type="http://schemas.openxmlformats.org/officeDocument/2006/relationships/notesSlide" Target="/ppt/notesSlides/notesSlide5.xml" Id="R87b860640701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1f093e100457b" /><Relationship Type="http://schemas.openxmlformats.org/officeDocument/2006/relationships/image" Target="/ppt/media/image4.png" Id="R707a6a1585de4e4f" /><Relationship Type="http://schemas.openxmlformats.org/officeDocument/2006/relationships/notesSlide" Target="/ppt/notesSlides/notesSlide6.xml" Id="R86c259f08c22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d3f47f26e4089" /><Relationship Type="http://schemas.openxmlformats.org/officeDocument/2006/relationships/image" Target="/ppt/media/image5.png" Id="R3b0e91ae48204014" /><Relationship Type="http://schemas.openxmlformats.org/officeDocument/2006/relationships/notesSlide" Target="/ppt/notesSlides/notesSlide7.xml" Id="R0fc2e1ff406745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e46c7d8164a55" /><Relationship Type="http://schemas.openxmlformats.org/officeDocument/2006/relationships/notesSlide" Target="/ppt/notesSlides/notesSlide8.xml" Id="R26720afce65b47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527d0e2d3480f" /><Relationship Type="http://schemas.openxmlformats.org/officeDocument/2006/relationships/notesSlide" Target="/ppt/notesSlides/notesSlide9.xml" Id="R3eb7f8ff9bfe4e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4231e6a8b4714" /><Relationship Type="http://schemas.openxmlformats.org/officeDocument/2006/relationships/notesSlide" Target="/ppt/notesSlides/notesSlide10.xml" Id="R5779af66e67b48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d1f4bfd3894490" /><Relationship Type="http://schemas.openxmlformats.org/officeDocument/2006/relationships/notesSlide" Target="/ppt/notesSlides/notesSlide11.xml" Id="R601448548cbf4c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7b1998ff744ed3" /><Relationship Type="http://schemas.openxmlformats.org/officeDocument/2006/relationships/notesSlide" Target="/ppt/notesSlides/notesSlide12.xml" Id="Re87117a37968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88ac8aba2a40d0" /><Relationship Type="http://schemas.openxmlformats.org/officeDocument/2006/relationships/notesSlide" Target="/ppt/notesSlides/notesSlide13.xml" Id="Rb22f4e43c1c142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923af78fb4e75" /><Relationship Type="http://schemas.openxmlformats.org/officeDocument/2006/relationships/notesSlide" Target="/ppt/notesSlides/notesSlide14.xml" Id="R5f0d3c383dc540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564e5eea14534" /><Relationship Type="http://schemas.openxmlformats.org/officeDocument/2006/relationships/notesSlide" Target="/ppt/notesSlides/notesSlide15.xml" Id="R826eda835f3f4b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25a870f374003" /><Relationship Type="http://schemas.openxmlformats.org/officeDocument/2006/relationships/image" Target="/ppt/media/image6.png" Id="R2fccdd31c76f4190" /><Relationship Type="http://schemas.openxmlformats.org/officeDocument/2006/relationships/notesSlide" Target="/ppt/notesSlides/notesSlide16.xml" Id="R6737cb3f819640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93de5134340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2709A-D8BE-4584-9060-CD546ED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97776-C793-44FC-B726-706DDB3D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0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E0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E3232-6518-47DC-AD2C-88E9435C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742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Can a laneway home fit here?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FA43E-53E3-467C-B560-FD029113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733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Week 3 update: we are turning official bylaw PDFs into verified rules that can later feed map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2EC0C-3CB3-4697-80A1-FBAEFC17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3FC02-A2D7-4CC5-B4F6-A6F02EA8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1297B-49A5-4F89-A4FB-276AC3D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E1709-3D62-4E15-8AE4-6436034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1. Read bylaws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A9295-22AC-4DCA-8257-2C95B3F9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Official PDF documents are the source of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7B240-FC79-448B-8E43-2FD4320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63945-E9C8-4258-9022-6A6BA7F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B2EA0-FB08-4F8E-898C-97F6F97B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7153C-44A4-40D8-8632-F5934DC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2. Prove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8BAFD-0C66-4136-997A-BF34251F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rule must match an exact sentence before we trust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B03FB-C1C1-4E67-B130-1A3ED91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B33C2-8A42-4487-9201-CFC0863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98A3C-A91C-42E3-A15D-5210672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B57BA-26AF-4174-BA9F-BB28EE0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3. Map prep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1DEE6-6AF3-462F-B43C-AB2049D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GIS prepares parcel layers for future buildable-area checks.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1DA37-7356-4186-929B-AB1CC92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0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0EA"/>
                </a:solidFill>
                <a:latin typeface="Aptos"/>
                <a:ea typeface="Aptos"/>
                <a:cs typeface="Aptos"/>
              </a:rPr>
              <a:t>Jamie, Sasivimol, Zihao, Yusen</a:t>
            </a:r>
          </a:p>
        </p:txBody>
      </p:sp>
    </p:spTree>
    <p:extLst>
      <p:ext uri="{BB962C8B-B14F-4D97-AF65-F5344CB8AC3E}">
        <p14:creationId xmlns:p14="http://schemas.microsoft.com/office/powerpoint/2010/main" val="12818864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2A929-E54F-4DB8-9E6B-266B7A98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0EBF-AADE-4D03-93DF-7D63195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DF955-DB98-4B15-A7B2-C1A71A8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582FF-0AB9-4A49-8CFD-6E1D016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75E69-79E9-414B-A207-1257AE04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30F29-A1BC-4FCB-85E3-05AE2A32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One narrow question, answered with map context and source-backed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AF86D-AB75-4443-957B-76E57B3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2D5DC-3F76-4DD7-B815-4800A7D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E65EB-011A-49D7-9A31-01EAF94C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8DEB5-4FB9-4865-AC6A-C440A760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383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The user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3FD54-4EFF-4B6B-83AB-D7A35CC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If I click a parcel on the map, can I likely build a laneway-family home there?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A18CC-C05E-43B8-AE0D-ACE5567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5EC55-CFD1-4751-8034-50B11E3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CAAA2-005C-4288-AEC3-36D3465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71606-7510-4B3D-B084-688AD44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Our current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FCFF9-A517-4E64-9151-C3A1C2E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2514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Only laneway-family homes: laneway house, coach house, garden suite, and backyard home.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15dc22b3f4ab7"/>
          <a:srcRect xmlns:a="http://schemas.openxmlformats.org/drawingml/2006/main" l="2206" t="0" r="22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352550"/>
            <a:ext cx="4953000" cy="2914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78716-513E-4DE4-BFD6-E6D9BD3D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52550"/>
            <a:ext cx="4953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A1322-F454-4EC9-8EC4-A6D5BC4D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DA1EC-74CB-4D7E-A62D-6197DC8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291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B8256-B10E-4830-9A13-FA4EBB3B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final answer should be simple. The proof behind it cannot be sloppy.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7BDF8-1D14-41D4-B480-7CA4B89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project overview; source: team scope discussion and Week 3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C3C7D-AB08-41DD-8169-693B41E1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5590412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54A2E-877F-440C-8331-F88C446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6274C-8CE6-415C-987F-1BF65942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CAAD7-53B5-436C-9FF8-7A1F19A5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5F7B0-EE95-4BC7-91A8-AD2A6391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846F6-8754-466F-A6FF-FE8456CD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Core 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21A89-4583-4B08-A0F5-2D91AAA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rule is not trusted just because the system found a PDF.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D86E0-C28D-431D-8BCB-84BB8B0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287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We need source matching at the sentence level.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D9080-4D5A-420A-B6DF-99E3A90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F81B7-A1C9-45FD-A262-E1C0CB96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875BC-D601-47C2-BC2E-8F779E4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1756E-C062-42AD-A123-911C46E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Too weak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8CC7F-05B2-412F-B86F-EBAAC437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21812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rule came from this bylaw PDF.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54276-87F6-40BE-8DAA-FD02964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5EB45-69CB-4DA6-942E-155D80D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119F7-496B-4A12-8184-E12DD179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2"/>
          </a:solidFill>
          <a:ln xmlns:a="http://schemas.openxmlformats.org/drawingml/2006/main" w="0">
            <a:solidFill>
              <a:srgbClr val="C66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B449F-8B13-4312-8553-A75D8903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Better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7561E-E550-46E0-B143-D34AD5A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1812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rule came from this page and section.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2B2ED-C8DE-4A1F-802E-E1D49A7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289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AF3E6-5700-4D27-80F9-9DB761A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A9DB6-7233-4D11-A627-02B928A1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3898A-2735-4EA1-82D7-F940099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What we need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2D93F-C56E-44E7-9856-8003505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21812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exact sentence says the same value, condition, and meaning.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8AB93-B0B8-4E0A-92BE-CD266E9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08CD1-4E37-4B40-8FFC-518372ED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ED013-ED31-4637-AA02-5F297972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exact sentence match means the rule goes to review, not into the trusted registry.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B80AF-71EF-459E-A3CD-054D76CD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key finding; source: Yusen verification pipeline and May 21 blocker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0588B-1357-4844-A973-5BC9368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968135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DAAE0-35AF-46DC-BF36-B69D044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B6AE-A07B-47F2-BD2E-05D73AD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8DACD-B012-41E0-A4FE-EEE951AD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5634F-AF8D-4252-AE33-AF665E4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3223F-2A99-4DF9-84B3-04BD0FC0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Jamie: GIS And Boundary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9F074-524F-41B4-8599-E94F392C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Start with Jamie's main summary, then compare the two boundary-labelling algorithms.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604B4-80AE-458C-BD35-AF048814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76CCB-3CF7-49BE-AC73-740E1CE5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F3DFC-4DEF-4388-AB4F-985566FD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3586-8A45-4FF8-A038-DD2923E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8A5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38A57"/>
                </a:solidFill>
                <a:latin typeface="Aptos Display"/>
                <a:ea typeface="Aptos Display"/>
                <a:cs typeface="Aptos Display"/>
              </a:rPr>
              <a:t>Jamie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23104-EB18-45BB-B491-0D9A2B5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GIS / buildable-area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9EC51-7C12-4CFD-BD36-FC45A8B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9515A-25E2-4790-8062-4762A8B9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34h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2E0B3-3CAF-4751-B6AE-5268F1F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Jamie worked on the map side of the project: parcel data, zoning joins, geometry simplification, and the boundary algorithms needed for setbacks.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757B4-4A27-40C1-8CCC-E6B756E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C834B-F316-4295-93C9-7F11F6B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5BD5B-2F99-4BBC-8500-4787439E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816C7-03FA-4F16-8C2D-370040D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2750E-1147-44F3-92B5-5326B1E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Inputs: Burnaby parcel, street, lane, and zoning layers.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67FFC-71DA-4993-BC54-07A77F3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A5409-D4D6-4CC0-8ADF-45961D1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Processing: join parcels to zoning and simplify parcel shapes with Douglas-Peucker tolerance tests.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2CE09-0467-4349-B98C-A844CB89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8381A-1D66-4958-B2C5-F7B93F0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Output: identify front, side, rear, and lane edges so setbacks can later create a buildable envelope.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80C13-714C-4047-9A5E-E2EE6A6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377AF-D99E-4DFA-9AC0-D703E81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FAD9-8094-4FDA-BABF-6410E27A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 &amp;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0B247-AB95-4E6F-8A94-B9A5F2A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A9C7AF-F992-4BF0-B5B7-7509293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Built Burnaby R1 GIS project and map preview.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6EA0D-B9A6-4622-9B50-B202471C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92C29-DD34-4013-8612-36A8CD0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Compared 4-sided and any-shape boundary algorithms.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1CAF2-75BB-4B6C-AEC7-E6EDCF69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015CA-5C87-4D88-84FC-DAB54501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0.1 m tolerance captured 85.9% of Burnaby R1 parcels.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37B5F5-52EC-46FB-B70D-AA4F79B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6362E-0464-47B5-B68C-FAB2CE6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Next slides show the algorithm options before the rest of the team work.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2CC2B1-7801-4D4F-B301-8A483AA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F51D03-2F62-44E4-9841-9E73223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5772C4-9A18-40FE-BED3-64DDD8A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matters: This turns verified zoning rules into a parcel-level map check; without boundary labels, setbacks cannot be applied correctly.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C3234-46DD-4BEA-93C3-8B28BC82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team contributions; sources: Jamie branch GIS files, buildable_area_algorithms.pdf, week3 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0EC9C8-D0CB-4903-A22A-DFC66A7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21008997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9A91A-FAF3-452B-9196-4AFE959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D4AD6-E6E9-4AF4-8FBD-87BA4FE8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D875C-B719-4CB6-8C48-1C3DF4C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FFA9C-8E22-4743-8563-4E1A41B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7A910-6DEE-495F-99A2-D957BB4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Algorithm Option 1: 4-Sided Parcels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97FD3-3F56-47B1-94C7-640B05D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Jamie: simpler first milestone for parcels that can be treated as four boundary lines.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4f02fcb5645db"/>
          <a:stretch xmlns:a="http://schemas.openxmlformats.org/drawingml/2006/main"/>
        </p:blipFill>
        <p:spPr>
          <a:xfrm xmlns:a="http://schemas.openxmlformats.org/drawingml/2006/main">
            <a:off x="846189" y="1428750"/>
            <a:ext cx="4975123" cy="3352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9D190-7F73-4A96-A3AD-1B379643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143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A2C52-5172-4DE0-A216-B1EBEAF8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25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3118E-3384-429E-A22F-6E6AAAC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C7FCF-664D-4065-A020-7777B8AE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A742C-9737-46D9-AE4E-772CA57F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41BB4-D9AF-4FD6-A669-79F258AD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Simplify parcel shape, find the boundary closest to its street as FRONT, label touching lines as SIDE, and the remaining line as REAR.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C1C02-EFCA-452C-BCB1-C9856E8E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E8FB5-88F2-4298-BABB-F2184F82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15EA8-15AC-458C-9E79-2DB8A2D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068D5-0B94-43F7-9B7D-2FFD677F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Why it helps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0CBAD-F5D3-4D66-9443-128C3FC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This is easier to implement and captured 78.5% of Burnaby laneway parcels at 0.01 m tolerance in Jamie's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D13C4-D294-47B6-A81E-8900CC17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CCBE2-2B38-4C9D-9D8C-E0258A4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F201E-9E97-4F72-B6F0-4FE2F02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2"/>
          </a:solidFill>
          <a:ln xmlns:a="http://schemas.openxmlformats.org/drawingml/2006/main" w="0">
            <a:solidFill>
              <a:srgbClr val="C66A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8705A-6714-4A17-B932-D9A6541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Main limitation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02CCB-507F-4166-A844-C8718CF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It misses irregular parcels and depends on approximating parcel shape with Douglas-Peucker simplification.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DAE0F-4A1E-4D62-8CE5-AEBF85BA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FDCD37-3338-4297-860E-C5C0D89A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4666C-8A3E-455C-B255-8F2BF80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0250"/>
            <a:ext cx="708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Speaker: Jamie. Practical, near-term boundary-labelling option.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CF770-9ABB-4BC7-AB2C-C1304A0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Source: buildable_area_algorithms.pdf, Labelling Boundary Lines for 4-Sided Parcels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F875B-6709-42BF-BBD2-55F73C5D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9113161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FAF10-B5B4-4771-A944-C67326D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0BE57-7CAD-4913-AEE5-C06366C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FA508-FEFD-4012-84B9-230988D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BFB19-D9A7-4C14-A090-99DE75DE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01DDF-ACCB-4CB5-AD7F-9571030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Algorithm Option 2: Parcels Of Any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7DE75-0735-4F01-B31F-F4214FE5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Jamie: more robust boundary labelling, but harder to implement.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a6a1585de4e4f"/>
          <a:stretch xmlns:a="http://schemas.openxmlformats.org/drawingml/2006/main"/>
        </p:blipFill>
        <p:spPr>
          <a:xfrm xmlns:a="http://schemas.openxmlformats.org/drawingml/2006/main">
            <a:off x="762000" y="1449957"/>
            <a:ext cx="5334000" cy="311988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B9577-CD12-41C3-BF56-EF5ADF68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BDE6-7EFF-43DD-8B86-B8486944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853DE-2915-4582-AEB3-2715C86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5BDD9-C737-4408-B562-24B6D8C9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69F99-6D51-433E-B1CD-91C1A71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049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1BA3C-C4C0-4C2D-BE87-C48A520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8595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For each boundary line, compare a perpendicular test line to the bee-line from the boundary midpoint to the street.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F4B1A-E9A7-4883-94E5-EEC3359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34808-575F-4F29-9977-AB0E975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B8547-54F8-4AC9-94B7-6C888B8A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4E4DF-6E73-42CD-BB54-17F600A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Decision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3FD7F-3C47-4D6C-ABF6-3965D61A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Low angle + unobstructed means FRONT. Low angle + blocked by the same parcel means REAR. Otherwise, label SIDE.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1165E-8162-44F2-BA59-6CC2655A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DAB23-B292-43C0-B352-1132C0C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3714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62040-86D1-4659-ACE0-0F675715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2"/>
          </a:solidFill>
          <a:ln xmlns:a="http://schemas.openxmlformats.org/drawingml/2006/main" w="0">
            <a:solidFill>
              <a:srgbClr val="C66A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13A1F-5009-48E6-A8DE-CD03B636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624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Tradeoff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CE6E8-25AD-4530-A578-6420112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3181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It can handle irregular parcels using the true shape, but implementation and computation are more complex.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40D00-852F-4FB4-879A-8B1FC70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E0CB7-6B9F-4573-B006-C7F401A2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769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DC440-99C1-474C-849B-A6F502D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10250"/>
            <a:ext cx="729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Speaker: Jamie. More complete option if robustness matters more than simplicity.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2AEB0-07B4-4597-A063-7202539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Source: buildable_area_algorithms.pdf, Labelling Boundary Lines for Parcels of Any Shape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A44A4-AD14-4A0F-8EBC-A2892743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666484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95C67-E237-4D59-B75F-79E939C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3776-523C-4D7F-948C-66900FB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814E6-A225-49A8-AAB3-E10807A2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79D2B-0EF1-4C26-96E5-FD22DF30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02886-9D75-4295-BA41-7F31CA8A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GIS Progress: Why Boundary Labels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25FDF-7FF2-478D-8DF0-54C4C97D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Setbacks only work after the map knows which side of a parcel is front, side, rear, or lane.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e91ae48204014"/>
          <a:srcRect xmlns:a="http://schemas.openxmlformats.org/drawingml/2006/main" l="5498" t="0" r="54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466850"/>
            <a:ext cx="476250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8D44A-2E6D-4ABC-85F6-D9553C0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762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C93A6-E3DC-41BE-97B0-B4499FD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44005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18519-A5FD-4E63-9A6F-D345E6C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4005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DB454-2008-4D12-8C90-ADB6834D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First GIS milestone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1EC73-F0DC-464E-B9E8-463FEAA5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50016-AABE-4BA6-AB20-EE3B9D1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F4E4B-856D-4367-A5F4-51964CD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1578064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730E3-9236-462E-AC58-8F5D92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574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67.9%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3751B-62D3-45DC-AA10-810186F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0.001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BF5A6-300A-4D9A-B176-B198B96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D1146-7C32-4FA0-8609-0B2893B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1733779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94E77-518D-4D67-BC22-541E8EE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74.6%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1F915-66F8-454B-A3B6-3044E25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0.01 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4AD46-5CF6-4557-B831-6332A27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34C9D-CE17-4599-8CD6-DA1D6B73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1824419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A66E5-9BCC-4F29-8CEC-6EDAD08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575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78.5%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4119B-EDC2-4210-836D-E5F00099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0.1 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7F0F9-89DC-4583-80A6-A2EC14A6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0F34C-C309-4AD3-9E7A-C3CD5CD2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1996402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29C47-7705-4DDC-8B20-9E76DF53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5757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85.9%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E62E8-2B88-4BD5-A5A9-54436CE1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1 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2A2AA-7631-4B80-B54D-BB535F7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CE7A5-2BC7-462C-BD84-0C2B7158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2103311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BCCE4-DE7E-4F7B-B054-F846FC2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57625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90.5%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0EAB6-8634-4E81-AAA9-97D4709C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At 0.1 m tolerance, 85.9% of Burnaby R1 parcels become near-4-sided candidates for a first pass.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C59D3-E47B-4A46-A723-7D8A771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challenge and roadblock; source: br_2026-05-21.pdf and Jamie GIS artifacts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4E738E-13C4-4095-96B0-CCFCBD29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1892350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AC4E0-A344-4025-A92D-3EB970B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95FBD-0686-42B4-8B79-B9BFDD06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691AA-DF7F-4CB1-B5CA-EE0B71E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E9BE-B727-4D15-88DB-DCB94322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93CD9-D447-4F53-BB32-7777429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Sasivimol: Config-Driven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4B5F6-810A-40A2-B4DF-DA831213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How the team starts turning different city bylaw PDFs into comparable rule candidates.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C97D5-349F-4D04-905E-DE44E93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4B24D-AEBC-4BFD-BF6B-A54DD26C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FDE65-5A2E-4D80-B87C-BE68AAD0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24999-4551-44A2-9294-3DD9CB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Sasivimol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E1353-EE0C-4E99-A64E-413C16BF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Extraction setup / ground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C38FB-52F9-4A55-9450-1D62875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F7A0C-8E96-4AFD-90EB-6EB74A2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37h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D1C82-270B-4E44-9960-F3AE748F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Sasivimol focused on making rule extraction repeatable across cities instead of hard-coding one municipality.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82F83-7E4E-4D3F-B2F0-EE3A39F4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8C7E1-9BB3-44D2-890D-BA4FA65A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EDC85-D0D6-414A-AD2B-170F4E7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13191-584A-401D-89CA-1C0D00E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DDFBB-BC19-4680-BB9A-ED05C76B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City layer: registry and PDF configs describe municipality-specific documents and zones.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12C35-D656-48F6-AB69-480500A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E469A-2FF8-4A52-AB95-723BBB9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Rule layer: configs define target rule types such as max lot coverage and minimum setbacks.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F9D11-CE37-482B-80E4-DA53C9A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898DB-AFB6-4343-A285-6A3FEFA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Evaluation layer: ground-truth specs and accuracy scoring are planned to check extraction quality.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773F6-B9A1-464B-AB26-F19780F9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2043F-59D0-4014-925E-A1C4A7A4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B0E02C-175B-4690-97ED-547CAF48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 &amp;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448B4-7020-4A7F-80D8-1D70E23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96B78-2987-4DB8-8C7B-5051C7B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Built and tested a laneway bylaw notebook prototype.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0809C-D483-41FA-ADE8-0492F37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250C09-DD40-48CC-A4E2-34E11C5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Explored regex vs LLM parsing for varied PDF structures.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5FEDA9-14DC-48F5-BD12-690C3D8E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0F57F5-9684-4DC2-B214-C6C4747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Used block-cutting and prompts to handle large bylaw PDFs.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B46F2C-B5D5-4829-AADA-D86EAAD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6B75B-E66E-4936-948C-79F86E76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Flagged Burnaby's collapsed tables as a reliability challenge.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7BB8E7-4EED-4473-8F11-441B507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150E65-A3AE-488D-94EF-CC5D78D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DACE21-026F-4397-8C9D-A76F130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matters: This creates the repeatable candidate-extraction setup, so new cities can be added without rewriting the whole pipeline.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DB9E8-885F-47AD-A5D8-D643C31A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team contributions; sources: Sasivimol branch notebook, capstone_journey.md, week3 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2876E-428D-4D13-AEBD-C00A25F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12677402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4E544-9537-48DA-BE72-969DA13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9CAB8-3EE1-4636-9056-AAC9D24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13FD2-210C-4FAD-B541-ED9718B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3C45-2592-4CD2-84FB-47187E1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A991-C2B7-4EFF-B5F1-7F48B86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Zihao: Multi-City Candidate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781F3-7A7E-41EF-9A38-F6C783B1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How broader PDF parsing and LLM extraction can find possible rules before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9AA23-2EB8-4FC9-819F-CA76EAC9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B6AB4-01BD-42AE-903C-D4A4D8C2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F44DA-B993-4607-8AA6-CA5463FD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4FAFB-C27D-492D-BA58-73272F4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Zihao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1D674-999D-4248-8DAF-8CB116B2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Candidate-rule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8202E-5949-430A-9FA4-099450F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E9EE0-A957-4F57-8245-52E0C225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35h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B5CDF-48EF-4292-B6B2-54883D3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Zihao worked on the extraction engine: parser comparison, document blocks, LLM normalization, and source coverage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F3EAC-BC5E-47C5-8C5E-ACDB3E80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6A9C8-2056-4A21-B973-457A9104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2BF52-B534-4BD0-A7AA-49C507D7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F1641-9CD8-44A9-9D9B-B008853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E51CD-DAA5-4A8A-8FB1-4406D76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Parse: compare PDF parsing methods and normalize pages into text blocks.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2EA2B-E751-43CC-9EE4-2F403AB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87F19-6020-467B-A255-5EECEAA8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Extract: select relevant blocks and ask an LLM to produce structured candidate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58861-A9FF-425C-8A24-7F84C3FC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5D667-F4A5-4A81-A8E9-492EDBC7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Audit: check source coverage, warning patterns, and cross-city extraction gaps.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DB61F-FAF6-455C-8CD3-4396D73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3EE58-918E-4F10-B82E-B92ABDB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931B5-CA30-4598-ADB2-753A5127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 &amp;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2CF6E-4880-4C4A-AE7D-39E1F31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904AD-9806-4A85-9196-66CBA119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Built notebooks 00-19 for parser and extraction experiments.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9EFFD-0F45-4499-830A-EE6E9B60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6B152-B706-4B43-BC3B-17F484E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Phase 2 normalized 377 page blocks.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9ABFFB-9223-4620-A42B-F6321C2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8A82BD-CD15-46EB-8BB8-110A3D3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Selected 8 verified relevant blocks and produced 62 deduped rule rows.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A4DAB-6087-4062-AD88-31F6B50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8C64C6-3228-4057-B2DE-A5846203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Flagged ungrounded conditions and local-model reliability limits.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B288F-CCAE-4237-9F87-CDD54FEA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2EA6B-001E-4672-A414-C684E6C5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63C45A-FEEB-4194-A985-BA6BA5E0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matters: This gives broad rule candidates across cities, but also shows why a separate verification layer is needed before rules drive map decisions.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15B54B-6D46-444F-88F2-563B257E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team contributions; sources: Zihao extraction branch notebooks, outputs, week3 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33B92-E784-4EBD-BD9F-2F907F2B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2063986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1ECA6-0403-4FAF-B357-C3C4F611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F0233-4F8A-443A-A8BF-EE29B79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8A107-F26C-4D6A-BE4F-C6DEB6F9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28A1F-5AFC-4069-B805-87CAFDC8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BCCF-CE88-4888-AB3D-0A54739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Yusen: PDF-Backed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6F062-5A34-4D73-9E09-23F71AA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How the project decides which candidate rules are trustworthy enough to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E439F-4110-4CED-BDA4-809B0D9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50C63-AA1F-41DB-BC94-E369010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41500-F843-478E-B1C6-86C4E17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77E8C-1459-4ACD-BDF2-7AFFD7C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Yusen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0013F-32B2-4C94-8A57-C8C8B76A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PDF-backed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04CB-C380-40DC-B907-BA7EB93F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BC99C-1C5D-4B6A-9359-1555AC57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40h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16466-7693-4B06-AEAD-1F3AE59D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Yusen focused the prototype on one core requirement: a rule must match an exact sentence from an official PDF before entering the registry.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3F8FC-3A4C-434C-A045-2E867F82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0E7FA-826D-4D2C-A48C-1A46931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3C059-5F1A-4A10-9FCD-BB6191FA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F39EF-7F24-4BAD-B4AA-694648D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3ED49-2F14-4BB7-A539-0E34385E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Source: official PDF manifest lists municipality, URL, document, zone hint, and laneway-family terms.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289BB-20A9-49DE-87C1-203E77CD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4D59F-FDC7-43CD-9496-B188251A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Ingest: pypdf extracts page text, source URL, document name, and page number.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31411-EE78-4291-9161-EE3D0F88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FC737-8E4E-4762-8EFB-58D12A4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2552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Verify: laneway sentences become candidates, then registry records or review-queue items.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08E50-CA79-4249-8AA3-5CD1B125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4374B-7429-45ED-BBDF-A676D05F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33500"/>
            <a:ext cx="3429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40F6A-A1EE-41BA-A3EB-A57EE7FD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19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 &amp;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39889-B589-478A-8619-FAB7E35E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277F2-6FAA-407B-9DE0-3C83B57E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Built pdf_ingestion.py and pdf_sentence_verification.py.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A9044-B83E-41B9-9891-860DC4F9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12905-E016-4BCD-BDDE-8CCE357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Current run: 361 pages, 181 laneway sentences, 81 candidates.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DA4FB-1CBF-4741-A03D-46DB428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A742DB-7CC4-4B34-BE4A-C109AF32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Verified 56 rules and sent 25 unclear cases to review.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BB59A4-C5F5-4762-A7CA-9D26C50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5285D1-0841-4AF3-9923-927E2E3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Next slide shows the end-to-end verification flow.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26F80-4C7B-46E9-8CB4-603E0B1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8F0F7F-B8C9-43C6-A698-F858433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A212E-A2AE-4F12-AC0F-4E515805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matters: This is the trust layer: a rule can only be used downstream when it matches an exact official PDF sentence.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2B9A5B-1D6D-4971-9F8A-89FF848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team contributions; sources: Yusen zoning_prototype code, output JSONs, week3 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A877F4-6ECD-46F1-AE26-AECEA00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10639022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FF43A-E076-4C25-94B4-AF91C4E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C2D86-E4CB-408D-9E86-0942062D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4B234-8C1A-4897-9346-1348BE9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91432-319B-4C8C-83B3-AA7D48AF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74B74-9520-4EF5-8FB8-D44B0FB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Yusen's Verification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51D59-1AF3-4A1D-8A39-032849B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Placed with the verification work: official PDF text becomes registry records or review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D4B34-E506-45AF-8CB2-87800692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8AB8C-9830-475E-AA15-9C026F8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F78F1-EF65-4997-BE11-A1CF2D5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4049C-0655-4278-BF5D-93E0B150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58D4C-6475-40FD-AE76-5C079CA3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Download PDFs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FCF58-FA38-41D4-BD23-6369591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Use official online bylaw PDFs from a small manifest.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4C384-E0A4-48C7-9209-C76C8729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47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98EBD-5EBE-4978-92B2-8B50FC2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0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D4A13-893D-4409-B519-AAC8551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526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1D0D0-5DDF-4294-BAFC-9752C52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20124-FE91-4C5D-8819-9AB7227E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66C05-5E53-4709-A197-11BB333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240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7A8F0-C851-4ABD-A53B-AEC899D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Read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5A82F-B19A-4F89-B3D7-21CE154D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Extract each page with document name, URL, and page number.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4A0A5-1E02-40BC-9E39-AE8EAC45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E7E56-F9B0-4713-905E-7648BF6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00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63B63-0BF6-4B87-B5E8-4654658E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28BA9-60C2-4A80-845A-E24E2C0A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954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AF8892-F087-450D-A711-0D2C979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66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F4945-FF56-494E-99F0-D7A2034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240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2A8E0-C904-41E5-8039-7B2D0BD1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Find sentences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34EA7-D0D6-4D2D-8A27-4D9AB72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86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Keep sentences about laneway-family homes only.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C06CF-5BA0-41BA-A9B5-B3E4C1AF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A293E-15B7-4A77-A7F2-1A0AEC5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0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8B990-6228-4BDC-8062-4D6A146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E5AA4-A441-4C68-96A8-93E19A9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DF5B9-176F-4D19-923F-2E7AF99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2"/>
          </a:solidFill>
          <a:ln xmlns:a="http://schemas.openxmlformats.org/drawingml/2006/main" w="0">
            <a:solidFill>
              <a:srgbClr val="C66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087CE5-EF8F-4D7C-98E5-BB6A454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87FA6-4DF6-4FDE-8079-99FF39F9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6690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Draft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15F9B-2E71-40A5-980D-7AD64A6D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Turn useful sentences into possible zoning rules.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7CFBC-DA83-43DF-88E1-B037028F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216884-B227-4751-B4D2-A13D0D27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02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B0B20D-B04C-4320-958D-4FB7D4D8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52600"/>
            <a:ext cx="114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4D59D5-0A72-4BAD-A73B-6DDD2D60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695450"/>
            <a:ext cx="1143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F6F65F-82B6-4064-8BF3-713B297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66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CB9C0-0455-465D-8134-72C86A0C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2405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D3EE92-183C-4A51-BF6A-8331F1D4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86690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A60A94-92D4-468E-850C-5B23A703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8600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Accept or send to review.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2332A4-F98D-42CF-8E44-97695AF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DB50A-8D33-4B6B-8691-3D6CF868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3BBD89-5BBE-4DEB-833F-8ED134E7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24391F-38ED-4592-8D38-240F218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00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Trusted 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9D1C9A-097F-4C8F-854B-2C23558F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91050"/>
            <a:ext cx="318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verified rule registry with page number, source URL, and evidence sentence.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7F6DE5-86D9-42EB-88E5-F5787C9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60759A-AAB6-4029-BF4B-4B02706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CB91A1-AE47-475E-ADA7-47E27E4D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2"/>
          </a:solidFill>
          <a:ln xmlns:a="http://schemas.openxmlformats.org/drawingml/2006/main" w="0">
            <a:solidFill>
              <a:srgbClr val="C66A1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689869-4A45-4BF2-A7F6-9598D669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Review output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FC0C70-FE85-48A0-8CAA-633AE567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318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review queue for unclear tables, exceptions, or conditional wording.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7473EC-82A8-42DD-8ED6-27E9FA6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technical progress; source: code/zoning_prototype pipeline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255D11-2893-456F-BDF8-0A31618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9890680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E4B18-1484-45DB-81C1-972E1AC8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CC5A-F72E-47B9-8452-E413453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D7241-9828-4314-8EB9-234E4556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5797F-58CE-4C54-8AFF-024A6DC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32980-14B3-4E6F-B0CC-604DCE59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Verification Run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6D15-5256-4D79-B6BB-8A24A8D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evidence gate is working because uncertain cases stay out of the registry.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DF45C-0535-424B-A86C-0517BB52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E6D77-DC1C-417A-A81C-8811519D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996BC-C0C1-43F5-B135-4CDD9A93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361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FF13B-20F7-4C67-95DD-850A73F7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PDF pages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EE092-AB9C-4F50-8A84-1B772C95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Surrey, Burnaby, Vancouver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2098C-41C8-495C-BDCE-CFF61114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85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F6B3F-C47F-4316-9C76-5D0C75D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6E671-1823-46FC-AE27-8365A34D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002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181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288CF-9D4E-461C-BB19-08C8491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38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laneway sentences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9482F-C125-497D-8246-D1F7102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sentences in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3DEB9-7A8E-4F26-9040-6A2919D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85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CEC68-EE45-40B2-9C52-4ED81BC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76767-5D5C-4BB4-855B-5B395EB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81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BFF52-B015-46EE-8545-0926F0A4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38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possible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630B0-1148-4F9D-B93C-6B30E0AB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candidate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D191B-C199-4FE2-8EC2-F181082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85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0250F-F443-420B-A1AF-5FB6F6A9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D8AB4-A2C0-4216-9ABD-7FCD286C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002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38A5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238A57"/>
                </a:solidFill>
                <a:latin typeface="Aptos Display"/>
                <a:ea typeface="Aptos Display"/>
                <a:cs typeface="Aptos Display"/>
              </a:rPr>
              <a:t>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6BAB5-3A2F-4B5C-AD69-DCF2460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verified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EC821-4A7B-4D02-A1F1-30DE7AAB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safe for registry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2BBC1-CF6E-4046-A1DB-AF784FC8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859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70FAA-9AFD-4AA0-B135-80F2E55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B2E3C-E867-4AAB-B57D-CA49848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002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C66A12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C66A12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4FAD3-2B4E-411E-8BD6-5FE8171C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38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need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0D36C-51DD-492C-8015-CBABA211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not thrown away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FBC77E-045A-4907-B518-4920F35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047C0F-095E-4775-BD9D-B925657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B0197-86E6-491C-9D3D-96D6DAB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A0B67B-2C20-4CFE-A6BB-FA9F54D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What worked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B8D61A-8ED2-4794-BB44-25D4764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All current verified rules are from Surrey, where the PDF text clearly uses laneway-family terms and sentence-level rules.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75D33-4CD4-4D9A-BFFF-1CF6540A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7190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7AFF9-1F94-4F70-A5A8-524EAB9A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390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4D3611-F47C-47FB-AFA7-BEA1C9AC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6E88E-F494-433F-9A9C-2306361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What we refused to fake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E61710-316B-406A-AAF1-AFD8C275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Burnaby produced 0 verified laneway-family rules because the PDF text did not clearly match our scope.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AED1AF-2C8E-4E4F-A3A9-A9824ED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preliminary results; sources: pdf_sentence_verification output JSON files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46CFAE-E615-4451-A71D-B03E388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4795261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AC9D3-AC75-4C2D-B94A-E1CA295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EB87B-AF53-4986-90C1-291E7A5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DFB83-C74C-4B5E-9EB6-60A33EA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3589-9BB0-4DA9-94D0-F5A521D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9B6FC-8941-4195-B653-72E0C66F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Week 3 Time Log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5A062-FE1F-4ECF-907E-8261766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Sourced from the team's personal-log entries, not estimated from the slide deck.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55383-3338-46DB-AFFB-3F4A06D3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954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1BBB0-5530-462A-95E5-B9B7F6C4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C71F6-BC2D-4643-B9E3-7F34352F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906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TOTAL LOGGED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2447A-0359-4CA2-8142-46778DC8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146h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02EE8-FE4D-4C32-98BB-2019126B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Week 3 team 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E7CD8-6BD0-47FF-A565-FF1D71F1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3335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Jamie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7A331-A3A5-4914-ABE9-086575EA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52550"/>
            <a:ext cx="1790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C8307-B171-435B-9AC8-87451488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52550"/>
            <a:ext cx="152209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1703B-19AC-4E3D-A03C-C7222D3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33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34h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C27F8-D34F-4F0A-8CE0-36AE84D5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33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Sasivimol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AED82-6B68-4CA3-BE30-74AF8E7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790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4D13B-0691-484A-8358-69776DD7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65639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FC86E-7B36-4B89-BF1F-EE5A1FC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37h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54DF4-6C54-4038-812E-1F6BCDB8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Zihao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663B0-5D7F-44E8-80F3-6C254D7E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1790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DF788-2D96-4406-8870-B0403435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1566863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9BC65-1908-4A09-AA5B-89D3703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35h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AADEC-F660-4E6B-ADBA-6065D5B7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Yusen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37F7B-7119-418D-9988-D374C38C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1790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F1"/>
          </a:solidFill>
          <a:ln xmlns:a="http://schemas.openxmlformats.org/drawingml/2006/main" w="0">
            <a:solidFill>
              <a:srgbClr val="E2E9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C3134-96E6-4278-9CBB-9DDFE68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1790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DAC27-6E21-4734-A6EF-C501CA2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40h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F061F-E4AB-4EE9-889B-D74C010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57300"/>
            <a:ext cx="31432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3D6F2-1282-4C9E-B994-305ED5E6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31432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1CA4B-3A38-4AE7-997B-5D4F67A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47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Main time pattern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E1478-B030-4A36-A23C-35F56B9E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2457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Most logged hours went into three technical tracks: GIS boundary/setback logic, PDF/rule extraction, and source-matched verification.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49680-7DC0-435E-A1A0-B59A857D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This matches the Week 3 blocker themes.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08A97-D8BD-4F5B-A602-9DBE79E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78D79-EAA8-42D2-82B0-0911D69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3B0FA-D535-4B19-940A-5EEF1B4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EA6FC-C2F4-4B64-8D17-46BB9A99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57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90EBD-C608-461C-9774-8AF669F3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B65A1-D455-4B84-B64E-58D5ABA8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957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Largest logged focus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81FF70-791F-49C4-910B-B7B2E1E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689B20-EF86-4338-AEC3-02CAD6C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957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Other logged 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B24DB-B027-436B-ABA3-71D9558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45F46E-149F-430F-AEB5-17BA6ACD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Jamie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8A911E-951E-4970-8DD9-92C68DE0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A20F84-C65F-4DDE-BEEB-566E90D9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529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34h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66E6E0-C699-467B-B834-9E84E16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767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C51FA5-7877-4136-B8D0-F064971C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529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Minimum-setback GIS: 22h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028130-40B6-4E00-85AD-E31D848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B427F7-32EE-4F07-9638-762FAE22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Max lot coverage, rule robustness, presentation, meetings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1C7131-160F-4EDF-982E-F48C4C3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7F110A-4F15-487A-BFC6-F26DFAC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Sasivimol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8153E8-C725-4965-8B9E-991BC3A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5A4529-FAFC-4296-A425-B921F38A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01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37h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5D7864-1EE5-4E47-93FF-7062A933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774EC0-EA2A-450A-B469-08EC011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Pipeline design/prototyping: 25h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B45C1-175B-43F7-A76A-627E0CF5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172F8E-05C0-4ED0-85A0-09364831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101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Bylaw research, presentation, team architecture discussion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796F7E-F08D-4451-8960-5E849DE8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EFBD37-F48D-4855-8077-4138376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Zihao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FBC9E7-7FF8-4D29-815C-0979D78A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911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FA7384-8F70-4196-9A08-90257D5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673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35h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5A0BA4-977C-424F-902A-898130C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911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B20E6F-E10E-4CBD-8D9D-3728BE69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67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Main extraction pipeline: 15h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19FA33-85DD-45D5-9331-DF6AB8A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911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9BA8AA-8C76-406A-849D-12CC579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67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Block workflow, normalization design, Gemini test, Calgary review, meetings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0F2D99-46A5-448E-ABB8-F50B780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81A653-628E-489D-BE45-A32E68A9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Yusen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EE2379-2ABA-4D23-A04A-CCEDAFB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483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977816-A639-4BED-8C53-DBA8C0BA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40h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129DC9-B079-41CB-9C1B-EB76F9DA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483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7F7251-3157-48AF-8D1D-FBB44ABB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245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Source matching + workbook verification: 16h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7BF7EC-8915-4967-ADC7-931500BD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48300"/>
            <a:ext cx="373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6101DE-682D-4173-82F8-7787B4EE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245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Rule engine review, team review, blocker reports, architecture planning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76A7C2-D9CF-43ED-91C4-F50FA9AA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team contributions and total hours; source: origin/main personal-logs/week3 entries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178BA9-10AD-4D37-A4F6-A00E0879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6505738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846D82-3F55-4616-A8B0-28B594D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ED65A-3EC3-4B71-86A9-FAD5D85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A8046-012F-430E-A52A-A388C84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D63C0-561E-4E8B-A968-933F7F6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2BC0D-4D45-45F5-99C1-37C8C71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How The Work Fits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2723E-131B-4470-8F09-341BAE8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Candidate extraction creates coverage; verification creates trust; GIS turns trusted rules into map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7EF48-C8E6-46CA-89CC-1F11774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833FA-1055-4698-82A4-040A7889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C9433-BA18-4091-9103-A4D4FADF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73DB1-9B72-484E-8300-B46D0D0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Find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3AADF-11AB-4158-9D5A-31B7885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Sasivimol and Zihao help the system find possible rules from official PDF text and tables.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AE098-27EA-464D-9BAA-3219F87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8C4B9-08DB-4EEF-999F-B749A181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384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41CA2-54BD-4502-A557-63061421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B7C6B-AE2E-44B3-9DFE-0DFFCB34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B6482-0D4C-4141-8F81-EE8003A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0B4CC-B74A-4652-8F34-94DA3984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050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Check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02ED0-A2B1-4D6A-8F59-6296472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Yusen's layer verifies that the value, condition, and exact sentence match.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D6392-2A1E-4196-AC08-7030D67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B0840-882D-435B-AD5D-3BFD4D1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384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7C7"/>
          </a:solidFill>
          <a:ln xmlns:a="http://schemas.openxmlformats.org/drawingml/2006/main" w="0">
            <a:solidFill>
              <a:srgbClr val="AAB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F0DD7-4616-4B6B-ABD5-3AAA14E9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526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02FD5-CC87-4312-BE0C-4AC462CE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7A56B-503C-4873-ABD6-7EB1176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529C0-C5F6-4275-A1B0-E1E35466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Use on map later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D8A11-3430-4442-ADF3-9D08F0B7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Jamie's GIS work is the map side that can later consume trusted rules.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66BD3-3093-4AA2-B7BC-36F6983A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00600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2E094-B806-49D7-8E6F-AC134A57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43450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8F448-223F-428C-A93C-D798018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AI can help find rule candidates. It should not be the final judge of whether a rule is true.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7F381-C9E4-4C43-AA80-C29EB3F6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what succeeded and what did not; sources: Zihao, Sasivimol, Yusen, Jamie branches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688B1-39AA-475E-ACC1-E973804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99100006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9EEE1-A7ED-45F7-A924-39FFB36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03AE3-F230-4580-80C1-B6FBE4E7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919A1-2CD5-4033-9EF7-5C37C1C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579D2-12B3-4B29-A0DB-FDB3E198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7BE5C-CD98-4E7C-BC04-097F43D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Blockers And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9141C-46B6-412C-AF64-9A0F5704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blocker has shifted from finding sources to interpreting tables and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B6CE-83EB-4352-837B-2AA4A1F2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970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7BCE3-57D0-4A08-AA74-106DB4B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5255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FB5B-F36C-4298-AAD2-C2A6440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62100"/>
            <a:ext cx="3971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May 20: What should AI 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AA85D-A309-485E-A26C-336C077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3971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Use AI for lookup and source-backed explanation. GIS/rule logic still calculates the envelope.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CDC7D-9E6D-44B4-9718-FE3833A2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EF36B-8100-4AF5-874E-DD60BF8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4E785-A59D-425E-965C-282778A7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3971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May 21: Which parcels first?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26E3F-805C-48C6-A461-323FAC3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3971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8A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A57"/>
                </a:solidFill>
                <a:latin typeface="Aptos"/>
                <a:ea typeface="Aptos"/>
                <a:cs typeface="Aptos"/>
              </a:rPr>
              <a:t>Start with 4-sided or near-4-sided lots, then flag irregular parcels for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FA52D-CFB2-44EC-9633-DCD9BB6D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0AEC6-6F62-4072-B8D0-1577F1B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DB4F3-2411-49C4-84C8-63C3FEE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3971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May 21: Which rules count?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83D99-4AAD-4E0F-BF73-4FAD117B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3971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12"/>
                </a:solidFill>
                <a:latin typeface="Aptos"/>
                <a:ea typeface="Aptos"/>
                <a:cs typeface="Aptos"/>
              </a:rPr>
              <a:t>Only rules tied to exact PDF sentence or table-row evidence should enter the registry.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1E65D-80F5-4FA9-8864-9936FE59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F0864-50FD-4B49-BD20-9B9C85C0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24200"/>
            <a:ext cx="44291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7BC02-F5AC-4DD7-82EB-E42B7F2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3971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May 25: What is blocked now?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9A041-4C62-460C-A33E-3BCB5E6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3971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Prioritize table-aware extraction and condition modeling before expanding rule coverage.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44750-0F1D-4AE6-AEBA-8BA3D72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47C8A-81BA-41B3-90C0-A48E406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7D9B4-81B2-4C82-A662-1BA73C30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578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Latest blocker: source ingestion works; the hard part is PDF tables and conditional wording like may, if, except, and subject 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393528-C371-4670-A881-28DA064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challenges and roadblocks; sources: May 20/21 blocker reports and May 25 zoning_prototype/BLOCKER_REPORT.md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C887E-8644-4F31-A45D-FCAEFF6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5945399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D707D-D44F-497F-9B0C-480BD51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BD406-9179-4136-A5B7-97A5B586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7"/>
          </a:solidFill>
          <a:ln xmlns:a="http://schemas.openxmlformats.org/drawingml/2006/main" w="0">
            <a:solidFill>
              <a:srgbClr val="238A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9D26B-41B8-4E80-A1BD-7A63231A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A10FB-4A6A-4C7A-AE90-9608FB1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D88E5-CCE8-42EC-810E-1048624A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971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Product Tracking And Client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B32ED-7807-4D51-91EE-AC3C331B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This is not final UI; it shows how the pieces should connect after mentor decisions.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cdd31c76f4190"/>
          <a:srcRect xmlns:a="http://schemas.openxmlformats.org/drawingml/2006/main" l="0" t="455" r="0" b="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295400"/>
            <a:ext cx="581025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72EBB-18AE-4518-8A92-EE2D4CC0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5810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B9A6D-973A-4A43-95AB-6AD40A92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52550"/>
            <a:ext cx="342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F"/>
          </a:solidFill>
          <a:ln xmlns:a="http://schemas.openxmlformats.org/drawingml/2006/main" w="0">
            <a:solidFill>
              <a:srgbClr val="E1E7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1C0A8-CB3A-4CFA-AFBC-F237EAD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95400"/>
            <a:ext cx="342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54A7C-F44E-444D-BF30-62EFD58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Parcel answer panel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3115F-707E-4E20-AF2F-FD0F4F1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077C8-B1F7-4971-B12B-FA26B70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Likely buildable?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CA560-703C-49BF-8DE0-334A366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Needs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66351-2F8E-4468-806F-300519B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3D036-44C4-4D56-AFA5-E97BE29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Why?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D48E2-2C52-49EB-8C4A-981A703F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Setback rule needs table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766B-E690-4EAC-ACBA-AB31FEC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945A9-B2CF-44F4-9E17-3C654D66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6149E-ABA5-4973-8814-5700601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Show PDF page and evidence sentence.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1EF95-F359-460C-B61D-7DCCB29F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238A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7743A-480E-4BD4-8717-F46E951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Current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756CB-12BE-494F-A943-EC96C3A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Extraction, verification, and GIS prototypes exist.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DA026-AB0B-4871-B302-ED0DF1E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C66A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4D6DC-8559-4020-9B48-8048B671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57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Client communication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63C9F-583D-4216-AA30-C33747C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RAG meeting with Andy moved to May 27 morning after accident-related injury.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E2A03-4D24-4B03-84D0-FD98F27E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3028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637A7-1800-44EB-A01A-AD35B5D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Next discussion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CDED39-1DB8-49E8-BAEE-08800F11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Confirm decisions before locking assignments.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7E7A63-EF22-41D0-9E11-B7A1F4F8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Presentation requirement: project tracking, client communication, and next-step discussion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6135B-191F-48B5-8BBD-0D24AED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GMT Week 3</a:t>
            </a:r>
          </a:p>
        </p:txBody>
      </p:sp>
    </p:spTree>
    <p:extLst>
      <p:ext uri="{BB962C8B-B14F-4D97-AF65-F5344CB8AC3E}">
        <p14:creationId xmlns:p14="http://schemas.microsoft.com/office/powerpoint/2010/main" val="1950523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2026-05-26T20:23:48.7870000Z</dcterms:created>
  <dcterms:modified xsi:type="dcterms:W3CDTF">2026-05-26T20:23:48.7870000Z</dcterms:modified>
</coreProperties>
</file>